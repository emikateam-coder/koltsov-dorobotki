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handoutMasterIdLst>
    <p:handoutMasterId r:id="rId14"/>
  </p:handoutMasterIdLst>
  <p:sldIdLst>
    <p:sldId id="257" r:id="rId2"/>
    <p:sldId id="291" r:id="rId3"/>
    <p:sldId id="293" r:id="rId4"/>
    <p:sldId id="290" r:id="rId5"/>
    <p:sldId id="292" r:id="rId6"/>
    <p:sldId id="294" r:id="rId7"/>
    <p:sldId id="295" r:id="rId8"/>
    <p:sldId id="297" r:id="rId9"/>
    <p:sldId id="296" r:id="rId10"/>
    <p:sldId id="298" r:id="rId11"/>
    <p:sldId id="289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на Домницкая" initials="МД" lastIdx="1" clrIdx="0">
    <p:extLst>
      <p:ext uri="{19B8F6BF-5375-455C-9EA6-DF929625EA0E}">
        <p15:presenceInfo xmlns:p15="http://schemas.microsoft.com/office/powerpoint/2012/main" userId="4f11768ab82f66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466A"/>
    <a:srgbClr val="09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41" autoAdjust="0"/>
    <p:restoredTop sz="94660"/>
  </p:normalViewPr>
  <p:slideViewPr>
    <p:cSldViewPr snapToObjects="1">
      <p:cViewPr varScale="1">
        <p:scale>
          <a:sx n="123" d="100"/>
          <a:sy n="123" d="100"/>
        </p:scale>
        <p:origin x="4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119895" cy="11989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EC4E2-312E-40CA-BB73-669C39065786}" type="datetimeFigureOut">
              <a:rPr lang="ru-RU" smtClean="0"/>
              <a:pPr/>
              <a:t>30.05.2026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6B20-E780-4CC1-ADA5-D4276F431C2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55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82F07-21A8-452B-830F-6F275006A33E}" type="datetimeFigureOut">
              <a:rPr lang="ru-RU" smtClean="0"/>
              <a:pPr/>
              <a:t>30.05.2026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CC7F-4B8F-4971-B02C-4E99B9754D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085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653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23D1-D7DC-4591-8B16-454534D8710C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2DAA-37A7-4574-9524-5D7BADAEC38D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C9B3-8FFD-42E5-B7EB-F0940352A9D4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867B-E5FE-4FC4-865B-32A2D9C963E5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9ADF-A8B4-4D2F-917B-437CC9B9A1C8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6561-EB4D-4AD2-8019-9E2996AD71FD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F0B72-E5A1-44E1-A9DB-C9806E27F32C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199-4694-42D0-8B18-C4941EBE0C8D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FB2B-9458-442D-9586-942FF85D3874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026C-C2E1-4D4B-B1B4-784E50A3B18B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F9B1-6C1D-4F32-95AA-811C294F742E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5F98-5148-4E11-98BB-6DE8AF8901CE}" type="datetime1">
              <a:rPr lang="ru-RU" smtClean="0"/>
              <a:pPr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809165" y="6356350"/>
            <a:ext cx="599476" cy="365125"/>
          </a:xfrm>
        </p:spPr>
        <p:txBody>
          <a:bodyPr/>
          <a:lstStyle/>
          <a:p>
            <a:pPr algn="ctr"/>
            <a:fld id="{17793251-9A28-40A8-A22D-0F67443F6B26}" type="slidenum">
              <a:rPr lang="ru-RU" smtClean="0">
                <a:solidFill>
                  <a:srgbClr val="0965AF"/>
                </a:solidFill>
                <a:latin typeface="Franklin Gothic Book" pitchFamily="34" charset="0"/>
              </a:rPr>
              <a:pPr algn="ctr"/>
              <a:t>1</a:t>
            </a:fld>
            <a:endParaRPr lang="ru-RU" dirty="0">
              <a:solidFill>
                <a:srgbClr val="0965AF"/>
              </a:solidFill>
              <a:latin typeface="Franklin Gothic Book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B21ED7-1CD0-4C76-0739-01B0F2911F08}"/>
              </a:ext>
            </a:extLst>
          </p:cNvPr>
          <p:cNvSpPr txBox="1"/>
          <p:nvPr/>
        </p:nvSpPr>
        <p:spPr>
          <a:xfrm>
            <a:off x="488641" y="1268685"/>
            <a:ext cx="792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chemeClr val="tx2"/>
                </a:solidFill>
                <a:latin typeface="Calibri"/>
              </a:rPr>
              <a:t>ДИПЛОМНАЯ РАБОТА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E3D8A-0CD5-75F8-B047-AEDE5F7BC217}"/>
              </a:ext>
            </a:extLst>
          </p:cNvPr>
          <p:cNvSpPr txBox="1"/>
          <p:nvPr/>
        </p:nvSpPr>
        <p:spPr>
          <a:xfrm>
            <a:off x="668641" y="1772685"/>
            <a:ext cx="7560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chemeClr val="tx2"/>
                </a:solidFill>
                <a:latin typeface="Calibri"/>
              </a:rPr>
              <a:t>«Организация рекламно-информационной работы
коммерческой организации и оценка её эффективности
(на примере ООО "ФАСТ ИНЖИНИРИНГ")»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00E5B-9E70-5F8D-2F75-8F776D12D983}"/>
              </a:ext>
            </a:extLst>
          </p:cNvPr>
          <p:cNvSpPr txBox="1"/>
          <p:nvPr/>
        </p:nvSpPr>
        <p:spPr>
          <a:xfrm>
            <a:off x="488641" y="3122685"/>
            <a:ext cx="792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chemeClr val="tx2"/>
                </a:solidFill>
                <a:latin typeface="Calibri"/>
              </a:rPr>
              <a:t>Специальность: 38.02.04 Коммерция (по отраслям)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563B62-3F11-0656-062E-300901E8C9DA}"/>
              </a:ext>
            </a:extLst>
          </p:cNvPr>
          <p:cNvSpPr txBox="1"/>
          <p:nvPr/>
        </p:nvSpPr>
        <p:spPr>
          <a:xfrm>
            <a:off x="488641" y="3446685"/>
            <a:ext cx="79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chemeClr val="tx2"/>
                </a:solidFill>
                <a:latin typeface="Calibri"/>
              </a:rPr>
              <a:t>Студент: Остапенко Михаил Дмитриевич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93328-A637-8AD5-BA52-94D2929CF732}"/>
              </a:ext>
            </a:extLst>
          </p:cNvPr>
          <p:cNvSpPr txBox="1"/>
          <p:nvPr/>
        </p:nvSpPr>
        <p:spPr>
          <a:xfrm>
            <a:off x="488641" y="3788685"/>
            <a:ext cx="792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chemeClr val="tx2"/>
                </a:solidFill>
                <a:latin typeface="Calibri"/>
              </a:rPr>
              <a:t>Руководитель: к.э.н., доцент Саенко Мария Юрьевна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3F36F2-E78B-BFE5-3001-705BE6D8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000BA-8004-2A05-0D04-4111D255A568}"/>
              </a:ext>
            </a:extLst>
          </p:cNvPr>
          <p:cNvSpPr txBox="1"/>
          <p:nvPr/>
        </p:nvSpPr>
        <p:spPr>
          <a:xfrm>
            <a:off x="338668" y="1164448"/>
            <a:ext cx="7450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Актуальность исследования</a:t>
            </a:r>
          </a:p>
        </p:txBody>
      </p:sp>
      <p:sp>
        <p:nvSpPr>
          <p:cNvPr id="40" name="Oval 7">
            <a:extLst>
              <a:ext uri="{FF2B5EF4-FFF2-40B4-BE49-F238E27FC236}">
                <a16:creationId xmlns:a16="http://schemas.microsoft.com/office/drawing/2014/main" id="{F0B307E3-1395-75ED-3334-252A80709EF2}"/>
              </a:ext>
            </a:extLst>
          </p:cNvPr>
          <p:cNvSpPr/>
          <p:nvPr/>
        </p:nvSpPr>
        <p:spPr>
          <a:xfrm>
            <a:off x="300302" y="2365427"/>
            <a:ext cx="468000" cy="468000"/>
          </a:xfrm>
          <a:prstGeom prst="ellipse">
            <a:avLst/>
          </a:prstGeom>
          <a:solidFill>
            <a:srgbClr val="096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33F33B-1323-5D35-8042-4E2B6CD5F536}"/>
              </a:ext>
            </a:extLst>
          </p:cNvPr>
          <p:cNvSpPr txBox="1"/>
          <p:nvPr/>
        </p:nvSpPr>
        <p:spPr>
          <a:xfrm>
            <a:off x="300302" y="2365427"/>
            <a:ext cx="468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Rounded Rectangle 9">
            <a:extLst>
              <a:ext uri="{FF2B5EF4-FFF2-40B4-BE49-F238E27FC236}">
                <a16:creationId xmlns:a16="http://schemas.microsoft.com/office/drawing/2014/main" id="{306856CA-DAC3-6412-9412-B02F1A771646}"/>
              </a:ext>
            </a:extLst>
          </p:cNvPr>
          <p:cNvSpPr/>
          <p:nvPr/>
        </p:nvSpPr>
        <p:spPr>
          <a:xfrm>
            <a:off x="840301" y="2365427"/>
            <a:ext cx="4140000" cy="540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10">
            <a:extLst>
              <a:ext uri="{FF2B5EF4-FFF2-40B4-BE49-F238E27FC236}">
                <a16:creationId xmlns:a16="http://schemas.microsoft.com/office/drawing/2014/main" id="{0DB62BDC-91D5-0994-E159-AE0DF2D3B184}"/>
              </a:ext>
            </a:extLst>
          </p:cNvPr>
          <p:cNvSpPr/>
          <p:nvPr/>
        </p:nvSpPr>
        <p:spPr>
          <a:xfrm>
            <a:off x="840301" y="2365427"/>
            <a:ext cx="144000" cy="540000"/>
          </a:xfrm>
          <a:prstGeom prst="rect">
            <a:avLst/>
          </a:prstGeom>
          <a:solidFill>
            <a:srgbClr val="096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B23D00-8E7B-0D5E-DFC8-F357F3F59575}"/>
              </a:ext>
            </a:extLst>
          </p:cNvPr>
          <p:cNvSpPr txBox="1"/>
          <p:nvPr/>
        </p:nvSpPr>
        <p:spPr>
          <a:xfrm>
            <a:off x="1092302" y="2394227"/>
            <a:ext cx="381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965AF"/>
                </a:solidFill>
                <a:latin typeface="Calibri"/>
              </a:rPr>
              <a:t>Экономический контекст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4ACAD9-2789-3D62-96E2-5F8A1AC37302}"/>
              </a:ext>
            </a:extLst>
          </p:cNvPr>
          <p:cNvSpPr txBox="1"/>
          <p:nvPr/>
        </p:nvSpPr>
        <p:spPr>
          <a:xfrm>
            <a:off x="876302" y="2941427"/>
            <a:ext cx="41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Курс РФ на технологический суверенитет → рост роли
инжиниринговых МСП; технологическое превосходство
без рекламы ≠ коммерческий успех</a:t>
            </a:r>
          </a:p>
        </p:txBody>
      </p:sp>
      <p:sp>
        <p:nvSpPr>
          <p:cNvPr id="46" name="Oval 13">
            <a:extLst>
              <a:ext uri="{FF2B5EF4-FFF2-40B4-BE49-F238E27FC236}">
                <a16:creationId xmlns:a16="http://schemas.microsoft.com/office/drawing/2014/main" id="{1E1FDADF-0323-D89C-94E7-CB39EBD17E5B}"/>
              </a:ext>
            </a:extLst>
          </p:cNvPr>
          <p:cNvSpPr/>
          <p:nvPr/>
        </p:nvSpPr>
        <p:spPr>
          <a:xfrm>
            <a:off x="300302" y="3643427"/>
            <a:ext cx="468000" cy="4680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1DB057-7A60-570D-D13E-E0447B379A49}"/>
              </a:ext>
            </a:extLst>
          </p:cNvPr>
          <p:cNvSpPr txBox="1"/>
          <p:nvPr/>
        </p:nvSpPr>
        <p:spPr>
          <a:xfrm>
            <a:off x="300302" y="3643427"/>
            <a:ext cx="468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8" name="Rounded Rectangle 15">
            <a:extLst>
              <a:ext uri="{FF2B5EF4-FFF2-40B4-BE49-F238E27FC236}">
                <a16:creationId xmlns:a16="http://schemas.microsoft.com/office/drawing/2014/main" id="{FB90308C-6AD7-60FF-4F88-C5E1EC214341}"/>
              </a:ext>
            </a:extLst>
          </p:cNvPr>
          <p:cNvSpPr/>
          <p:nvPr/>
        </p:nvSpPr>
        <p:spPr>
          <a:xfrm>
            <a:off x="840301" y="3643427"/>
            <a:ext cx="4140000" cy="540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6">
            <a:extLst>
              <a:ext uri="{FF2B5EF4-FFF2-40B4-BE49-F238E27FC236}">
                <a16:creationId xmlns:a16="http://schemas.microsoft.com/office/drawing/2014/main" id="{F4C94562-E034-A58E-2F68-3CC7CF9949DB}"/>
              </a:ext>
            </a:extLst>
          </p:cNvPr>
          <p:cNvSpPr/>
          <p:nvPr/>
        </p:nvSpPr>
        <p:spPr>
          <a:xfrm>
            <a:off x="840301" y="3643427"/>
            <a:ext cx="144000" cy="540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D151A7-927E-1541-F9AE-28B2C5CBD1B5}"/>
              </a:ext>
            </a:extLst>
          </p:cNvPr>
          <p:cNvSpPr txBox="1"/>
          <p:nvPr/>
        </p:nvSpPr>
        <p:spPr>
          <a:xfrm>
            <a:off x="1092302" y="3672227"/>
            <a:ext cx="381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Calibri"/>
              </a:rPr>
              <a:t>Регуляторный контекст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F83EDC-A58A-7259-6BCE-FEAAA05A4F41}"/>
              </a:ext>
            </a:extLst>
          </p:cNvPr>
          <p:cNvSpPr txBox="1"/>
          <p:nvPr/>
        </p:nvSpPr>
        <p:spPr>
          <a:xfrm>
            <a:off x="876302" y="4219427"/>
            <a:ext cx="41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Поправки 2022–2023 к ФЗ №38-ФЗ «О рекламе»:
обязательная маркировка интернет-рекламы,
Единый реестр → юридическое требование для бизнеса</a:t>
            </a:r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666D3A3C-5F46-0DAD-2233-97485D90C9AE}"/>
              </a:ext>
            </a:extLst>
          </p:cNvPr>
          <p:cNvSpPr/>
          <p:nvPr/>
        </p:nvSpPr>
        <p:spPr>
          <a:xfrm>
            <a:off x="300302" y="4921427"/>
            <a:ext cx="468000" cy="468000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8C3DAD-C934-7EFD-1481-CF44FB94229F}"/>
              </a:ext>
            </a:extLst>
          </p:cNvPr>
          <p:cNvSpPr txBox="1"/>
          <p:nvPr/>
        </p:nvSpPr>
        <p:spPr>
          <a:xfrm>
            <a:off x="300302" y="4921427"/>
            <a:ext cx="468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Rounded Rectangle 21">
            <a:extLst>
              <a:ext uri="{FF2B5EF4-FFF2-40B4-BE49-F238E27FC236}">
                <a16:creationId xmlns:a16="http://schemas.microsoft.com/office/drawing/2014/main" id="{89CCA124-D188-6208-0F2E-3114B2B31290}"/>
              </a:ext>
            </a:extLst>
          </p:cNvPr>
          <p:cNvSpPr/>
          <p:nvPr/>
        </p:nvSpPr>
        <p:spPr>
          <a:xfrm>
            <a:off x="840301" y="4921427"/>
            <a:ext cx="4140000" cy="540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22">
            <a:extLst>
              <a:ext uri="{FF2B5EF4-FFF2-40B4-BE49-F238E27FC236}">
                <a16:creationId xmlns:a16="http://schemas.microsoft.com/office/drawing/2014/main" id="{9F532738-DADE-2957-F51B-9030CEDA7776}"/>
              </a:ext>
            </a:extLst>
          </p:cNvPr>
          <p:cNvSpPr/>
          <p:nvPr/>
        </p:nvSpPr>
        <p:spPr>
          <a:xfrm>
            <a:off x="840301" y="4921427"/>
            <a:ext cx="144000" cy="5400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1685FDF-FE20-7A7D-F9B0-02F6F0D2A302}"/>
              </a:ext>
            </a:extLst>
          </p:cNvPr>
          <p:cNvSpPr txBox="1"/>
          <p:nvPr/>
        </p:nvSpPr>
        <p:spPr>
          <a:xfrm>
            <a:off x="1092302" y="4950227"/>
            <a:ext cx="381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A"/>
                </a:solidFill>
                <a:latin typeface="Calibri"/>
              </a:rPr>
              <a:t>Специфика B2B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518CAF-610C-CB7C-44B4-F08A37DB099A}"/>
              </a:ext>
            </a:extLst>
          </p:cNvPr>
          <p:cNvSpPr txBox="1"/>
          <p:nvPr/>
        </p:nvSpPr>
        <p:spPr>
          <a:xfrm>
            <a:off x="876302" y="5497427"/>
            <a:ext cx="41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Длинный цикл сделки + многоуровневые закупочные
центры → нужен специализированный инструментарий
рекламно-информационной работы</a:t>
            </a:r>
          </a:p>
        </p:txBody>
      </p:sp>
      <p:sp>
        <p:nvSpPr>
          <p:cNvPr id="58" name="Rounded Rectangle 25">
            <a:extLst>
              <a:ext uri="{FF2B5EF4-FFF2-40B4-BE49-F238E27FC236}">
                <a16:creationId xmlns:a16="http://schemas.microsoft.com/office/drawing/2014/main" id="{F4F5C22F-E0B8-5E3E-35E0-C3D49B5F27A6}"/>
              </a:ext>
            </a:extLst>
          </p:cNvPr>
          <p:cNvSpPr/>
          <p:nvPr/>
        </p:nvSpPr>
        <p:spPr>
          <a:xfrm>
            <a:off x="5142301" y="1853143"/>
            <a:ext cx="3816000" cy="1152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26">
            <a:extLst>
              <a:ext uri="{FF2B5EF4-FFF2-40B4-BE49-F238E27FC236}">
                <a16:creationId xmlns:a16="http://schemas.microsoft.com/office/drawing/2014/main" id="{141FAF70-AB32-791A-77AA-A0E79CCE7463}"/>
              </a:ext>
            </a:extLst>
          </p:cNvPr>
          <p:cNvSpPr/>
          <p:nvPr/>
        </p:nvSpPr>
        <p:spPr>
          <a:xfrm>
            <a:off x="5142301" y="1853143"/>
            <a:ext cx="151200" cy="11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B828F4-7391-E2A2-37CE-0E9210803E1A}"/>
              </a:ext>
            </a:extLst>
          </p:cNvPr>
          <p:cNvSpPr txBox="1"/>
          <p:nvPr/>
        </p:nvSpPr>
        <p:spPr>
          <a:xfrm>
            <a:off x="5376301" y="1917943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Calibri"/>
              </a:rPr>
              <a:t>ОБЪЕКТ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4C5652-1D11-A982-073D-3E0CA7DA67A4}"/>
              </a:ext>
            </a:extLst>
          </p:cNvPr>
          <p:cNvSpPr txBox="1"/>
          <p:nvPr/>
        </p:nvSpPr>
        <p:spPr>
          <a:xfrm>
            <a:off x="5376301" y="2123143"/>
            <a:ext cx="34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Рекламно-информационная деятельность
ООО «ФАСТ ИНЖИНИРИНГ»</a:t>
            </a:r>
          </a:p>
        </p:txBody>
      </p:sp>
      <p:sp>
        <p:nvSpPr>
          <p:cNvPr id="62" name="Rounded Rectangle 29">
            <a:extLst>
              <a:ext uri="{FF2B5EF4-FFF2-40B4-BE49-F238E27FC236}">
                <a16:creationId xmlns:a16="http://schemas.microsoft.com/office/drawing/2014/main" id="{F969A242-D4F8-74E0-035B-3F6E835E75A5}"/>
              </a:ext>
            </a:extLst>
          </p:cNvPr>
          <p:cNvSpPr/>
          <p:nvPr/>
        </p:nvSpPr>
        <p:spPr>
          <a:xfrm>
            <a:off x="5142301" y="3095143"/>
            <a:ext cx="3816000" cy="1152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096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30">
            <a:extLst>
              <a:ext uri="{FF2B5EF4-FFF2-40B4-BE49-F238E27FC236}">
                <a16:creationId xmlns:a16="http://schemas.microsoft.com/office/drawing/2014/main" id="{A6B29F6F-39B8-133A-211C-216B9ADC80FB}"/>
              </a:ext>
            </a:extLst>
          </p:cNvPr>
          <p:cNvSpPr/>
          <p:nvPr/>
        </p:nvSpPr>
        <p:spPr>
          <a:xfrm>
            <a:off x="5142301" y="3095143"/>
            <a:ext cx="151200" cy="1152000"/>
          </a:xfrm>
          <a:prstGeom prst="rect">
            <a:avLst/>
          </a:prstGeom>
          <a:solidFill>
            <a:srgbClr val="096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1E5183-2194-5CAD-F391-E66A4CD0252F}"/>
              </a:ext>
            </a:extLst>
          </p:cNvPr>
          <p:cNvSpPr txBox="1"/>
          <p:nvPr/>
        </p:nvSpPr>
        <p:spPr>
          <a:xfrm>
            <a:off x="5376301" y="3159943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65AF"/>
                </a:solidFill>
                <a:latin typeface="Calibri"/>
              </a:rPr>
              <a:t>ПРЕДМЕТ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69F567-C019-0781-8300-36A09983D0F8}"/>
              </a:ext>
            </a:extLst>
          </p:cNvPr>
          <p:cNvSpPr txBox="1"/>
          <p:nvPr/>
        </p:nvSpPr>
        <p:spPr>
          <a:xfrm>
            <a:off x="5376301" y="3365143"/>
            <a:ext cx="34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Организационно-экономические отношения в процессе
планирования, реализации и оценки эффективности</a:t>
            </a:r>
          </a:p>
        </p:txBody>
      </p:sp>
      <p:sp>
        <p:nvSpPr>
          <p:cNvPr id="66" name="Rounded Rectangle 33">
            <a:extLst>
              <a:ext uri="{FF2B5EF4-FFF2-40B4-BE49-F238E27FC236}">
                <a16:creationId xmlns:a16="http://schemas.microsoft.com/office/drawing/2014/main" id="{7CCC9A26-28B6-D020-A073-109D8F3E497D}"/>
              </a:ext>
            </a:extLst>
          </p:cNvPr>
          <p:cNvSpPr/>
          <p:nvPr/>
        </p:nvSpPr>
        <p:spPr>
          <a:xfrm>
            <a:off x="5142301" y="4337143"/>
            <a:ext cx="3816000" cy="1152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34">
            <a:extLst>
              <a:ext uri="{FF2B5EF4-FFF2-40B4-BE49-F238E27FC236}">
                <a16:creationId xmlns:a16="http://schemas.microsoft.com/office/drawing/2014/main" id="{CDF9489C-4832-1A30-E5DC-6553C2E6BFDD}"/>
              </a:ext>
            </a:extLst>
          </p:cNvPr>
          <p:cNvSpPr/>
          <p:nvPr/>
        </p:nvSpPr>
        <p:spPr>
          <a:xfrm>
            <a:off x="5142301" y="4337143"/>
            <a:ext cx="151200" cy="1152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CE1AA5-B33C-5C32-1752-CA9C084B6C73}"/>
              </a:ext>
            </a:extLst>
          </p:cNvPr>
          <p:cNvSpPr txBox="1"/>
          <p:nvPr/>
        </p:nvSpPr>
        <p:spPr>
          <a:xfrm>
            <a:off x="5376301" y="4401943"/>
            <a:ext cx="349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722"/>
                </a:solidFill>
                <a:latin typeface="Calibri"/>
              </a:rPr>
              <a:t>ЦЕЛЬ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36B708-D8CB-B92A-C926-65646424A01C}"/>
              </a:ext>
            </a:extLst>
          </p:cNvPr>
          <p:cNvSpPr txBox="1"/>
          <p:nvPr/>
        </p:nvSpPr>
        <p:spPr>
          <a:xfrm>
            <a:off x="5376301" y="4607143"/>
            <a:ext cx="34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Разработка предложений по совершенствованию
рекламно-информационной работы и оценка
их экономической и коммуникативной эффективности</a:t>
            </a:r>
          </a:p>
        </p:txBody>
      </p:sp>
      <p:sp>
        <p:nvSpPr>
          <p:cNvPr id="70" name="Rounded Rectangle 37">
            <a:extLst>
              <a:ext uri="{FF2B5EF4-FFF2-40B4-BE49-F238E27FC236}">
                <a16:creationId xmlns:a16="http://schemas.microsoft.com/office/drawing/2014/main" id="{FAB758EF-8CB8-3847-CD5A-CA2AE89BDFDC}"/>
              </a:ext>
            </a:extLst>
          </p:cNvPr>
          <p:cNvSpPr/>
          <p:nvPr/>
        </p:nvSpPr>
        <p:spPr>
          <a:xfrm>
            <a:off x="5142301" y="5579143"/>
            <a:ext cx="3816000" cy="508858"/>
          </a:xfrm>
          <a:prstGeom prst="roundRect">
            <a:avLst>
              <a:gd name="adj" fmla="val 8000"/>
            </a:avLst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A21290-8BDC-9ACE-6FF8-CB8F9F618095}"/>
              </a:ext>
            </a:extLst>
          </p:cNvPr>
          <p:cNvSpPr txBox="1"/>
          <p:nvPr/>
        </p:nvSpPr>
        <p:spPr>
          <a:xfrm>
            <a:off x="5250301" y="5615143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Calibri"/>
              </a:rPr>
              <a:t>ЗАДАЧИ: 8 задач охватывают теорию, анализ, разработку и оценку</a:t>
            </a:r>
          </a:p>
        </p:txBody>
      </p:sp>
    </p:spTree>
    <p:extLst>
      <p:ext uri="{BB962C8B-B14F-4D97-AF65-F5344CB8AC3E}">
        <p14:creationId xmlns:p14="http://schemas.microsoft.com/office/powerpoint/2010/main" val="312746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A64DEE-D452-04DB-5B0A-CC03284F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8081F684-6EFA-F300-C177-41FF987503E0}"/>
              </a:ext>
            </a:extLst>
          </p:cNvPr>
          <p:cNvSpPr/>
          <p:nvPr/>
        </p:nvSpPr>
        <p:spPr>
          <a:xfrm>
            <a:off x="253561" y="1535404"/>
            <a:ext cx="2664000" cy="810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A266AE5-0F7B-1A99-43ED-0DCC0C67952B}"/>
              </a:ext>
            </a:extLst>
          </p:cNvPr>
          <p:cNvSpPr/>
          <p:nvPr/>
        </p:nvSpPr>
        <p:spPr>
          <a:xfrm>
            <a:off x="253561" y="1535404"/>
            <a:ext cx="144000" cy="81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1C630-2996-4535-B143-E58366C08F9F}"/>
              </a:ext>
            </a:extLst>
          </p:cNvPr>
          <p:cNvSpPr txBox="1"/>
          <p:nvPr/>
        </p:nvSpPr>
        <p:spPr>
          <a:xfrm>
            <a:off x="469561" y="1578604"/>
            <a:ext cx="239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1991 / 2001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33E31-569B-D9F5-20F5-586BD9AB5506}"/>
              </a:ext>
            </a:extLst>
          </p:cNvPr>
          <p:cNvSpPr txBox="1"/>
          <p:nvPr/>
        </p:nvSpPr>
        <p:spPr>
          <a:xfrm>
            <a:off x="469561" y="1859404"/>
            <a:ext cx="2394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AF"/>
                </a:solidFill>
                <a:latin typeface="Calibri"/>
              </a:rPr>
              <a:t>Основана / зарегистрирована
(юридически)</a:t>
            </a: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FEF0A55F-3595-3EC4-7BD4-4F12D0C2B257}"/>
              </a:ext>
            </a:extLst>
          </p:cNvPr>
          <p:cNvSpPr/>
          <p:nvPr/>
        </p:nvSpPr>
        <p:spPr>
          <a:xfrm>
            <a:off x="3061561" y="1535404"/>
            <a:ext cx="2664000" cy="810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BA84027A-658F-A644-6D00-F4131B827D8D}"/>
              </a:ext>
            </a:extLst>
          </p:cNvPr>
          <p:cNvSpPr/>
          <p:nvPr/>
        </p:nvSpPr>
        <p:spPr>
          <a:xfrm>
            <a:off x="3061561" y="1535404"/>
            <a:ext cx="144000" cy="810000"/>
          </a:xfrm>
          <a:prstGeom prst="rect">
            <a:avLst/>
          </a:prstGeom>
          <a:solidFill>
            <a:srgbClr val="096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1CD83B-47A7-0B0B-3EFF-8488EE4FD6B0}"/>
              </a:ext>
            </a:extLst>
          </p:cNvPr>
          <p:cNvSpPr txBox="1"/>
          <p:nvPr/>
        </p:nvSpPr>
        <p:spPr>
          <a:xfrm>
            <a:off x="3277561" y="1578604"/>
            <a:ext cx="239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≤10 чел.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E2400-58CC-6EC9-6A73-B63A3C1BC09A}"/>
              </a:ext>
            </a:extLst>
          </p:cNvPr>
          <p:cNvSpPr txBox="1"/>
          <p:nvPr/>
        </p:nvSpPr>
        <p:spPr>
          <a:xfrm>
            <a:off x="3277561" y="1859404"/>
            <a:ext cx="2394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AF"/>
                </a:solidFill>
                <a:latin typeface="Calibri"/>
              </a:rPr>
              <a:t>Микропредприятие; Москва,
ул. Новочерёмушкинская</a:t>
            </a: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299FB16D-0A6B-013D-1DCD-6679D480B541}"/>
              </a:ext>
            </a:extLst>
          </p:cNvPr>
          <p:cNvSpPr/>
          <p:nvPr/>
        </p:nvSpPr>
        <p:spPr>
          <a:xfrm>
            <a:off x="5869561" y="1535404"/>
            <a:ext cx="2664000" cy="810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DE50DEEB-3C0C-520C-784B-40DF3AB12F80}"/>
              </a:ext>
            </a:extLst>
          </p:cNvPr>
          <p:cNvSpPr/>
          <p:nvPr/>
        </p:nvSpPr>
        <p:spPr>
          <a:xfrm>
            <a:off x="5869561" y="1535404"/>
            <a:ext cx="144000" cy="810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A376B4-AEF3-F6E5-ED8D-2B3215AF1F4B}"/>
              </a:ext>
            </a:extLst>
          </p:cNvPr>
          <p:cNvSpPr txBox="1"/>
          <p:nvPr/>
        </p:nvSpPr>
        <p:spPr>
          <a:xfrm>
            <a:off x="6085561" y="1578604"/>
            <a:ext cx="239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МТК МЭР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C2C54C-8E09-F015-682B-6E8F5A5A9717}"/>
              </a:ext>
            </a:extLst>
          </p:cNvPr>
          <p:cNvSpPr txBox="1"/>
          <p:nvPr/>
        </p:nvSpPr>
        <p:spPr>
          <a:xfrm>
            <a:off x="6085561" y="1859404"/>
            <a:ext cx="2394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AF"/>
                </a:solidFill>
                <a:latin typeface="Calibri"/>
              </a:rPr>
              <a:t>Малая технологическая
компания с 21.01.2026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35769F38-4BCA-76EB-6DFD-5335A7EF40A6}"/>
              </a:ext>
            </a:extLst>
          </p:cNvPr>
          <p:cNvSpPr/>
          <p:nvPr/>
        </p:nvSpPr>
        <p:spPr>
          <a:xfrm>
            <a:off x="253561" y="2489404"/>
            <a:ext cx="2664000" cy="810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6643A258-3045-D5DC-4314-64DC32608484}"/>
              </a:ext>
            </a:extLst>
          </p:cNvPr>
          <p:cNvSpPr/>
          <p:nvPr/>
        </p:nvSpPr>
        <p:spPr>
          <a:xfrm>
            <a:off x="253561" y="2489404"/>
            <a:ext cx="144000" cy="8100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690EF-E79D-FE02-9627-CF5EAD2FF194}"/>
              </a:ext>
            </a:extLst>
          </p:cNvPr>
          <p:cNvSpPr txBox="1"/>
          <p:nvPr/>
        </p:nvSpPr>
        <p:spPr>
          <a:xfrm>
            <a:off x="469561" y="2532604"/>
            <a:ext cx="239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Новатор
Москвы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DB854D-BBDA-D052-3A2A-4397DE5D479F}"/>
              </a:ext>
            </a:extLst>
          </p:cNvPr>
          <p:cNvSpPr txBox="1"/>
          <p:nvPr/>
        </p:nvSpPr>
        <p:spPr>
          <a:xfrm>
            <a:off x="1252560" y="2590205"/>
            <a:ext cx="2394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AF"/>
                </a:solidFill>
                <a:latin typeface="Calibri"/>
              </a:rPr>
              <a:t>Премия Мэра Москвы за
теплообменный аппарат</a:t>
            </a:r>
          </a:p>
        </p:txBody>
      </p:sp>
      <p:sp>
        <p:nvSpPr>
          <p:cNvPr id="21" name="Rounded Rectangle 24">
            <a:extLst>
              <a:ext uri="{FF2B5EF4-FFF2-40B4-BE49-F238E27FC236}">
                <a16:creationId xmlns:a16="http://schemas.microsoft.com/office/drawing/2014/main" id="{3077D96C-AE5B-AFE8-FBE5-2F54CAF045A4}"/>
              </a:ext>
            </a:extLst>
          </p:cNvPr>
          <p:cNvSpPr/>
          <p:nvPr/>
        </p:nvSpPr>
        <p:spPr>
          <a:xfrm>
            <a:off x="3061561" y="2489404"/>
            <a:ext cx="2664000" cy="810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04084E3B-42EA-4E03-B2DE-FFA1313D38C5}"/>
              </a:ext>
            </a:extLst>
          </p:cNvPr>
          <p:cNvSpPr/>
          <p:nvPr/>
        </p:nvSpPr>
        <p:spPr>
          <a:xfrm>
            <a:off x="3061561" y="2489404"/>
            <a:ext cx="144000" cy="8100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C9F9EB-00C8-D5BD-CD61-D93BDA7907FA}"/>
              </a:ext>
            </a:extLst>
          </p:cNvPr>
          <p:cNvSpPr txBox="1"/>
          <p:nvPr/>
        </p:nvSpPr>
        <p:spPr>
          <a:xfrm>
            <a:off x="3277561" y="2532604"/>
            <a:ext cx="239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Сколково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27D4FF-8FC6-3643-C835-D9A5B8A62B47}"/>
              </a:ext>
            </a:extLst>
          </p:cNvPr>
          <p:cNvSpPr txBox="1"/>
          <p:nvPr/>
        </p:nvSpPr>
        <p:spPr>
          <a:xfrm>
            <a:off x="3277561" y="2813404"/>
            <a:ext cx="2394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AF"/>
                </a:solidFill>
                <a:latin typeface="Calibri"/>
              </a:rPr>
              <a:t>Финалист GREENTECH
2024–2025</a:t>
            </a:r>
          </a:p>
        </p:txBody>
      </p:sp>
      <p:sp>
        <p:nvSpPr>
          <p:cNvPr id="25" name="Rounded Rectangle 28">
            <a:extLst>
              <a:ext uri="{FF2B5EF4-FFF2-40B4-BE49-F238E27FC236}">
                <a16:creationId xmlns:a16="http://schemas.microsoft.com/office/drawing/2014/main" id="{09768F79-0F1C-02D9-B868-7A693409C246}"/>
              </a:ext>
            </a:extLst>
          </p:cNvPr>
          <p:cNvSpPr/>
          <p:nvPr/>
        </p:nvSpPr>
        <p:spPr>
          <a:xfrm>
            <a:off x="5869561" y="2489404"/>
            <a:ext cx="2664000" cy="810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76B90ADF-C2EC-DA3A-1D9E-82A44E1AC4B4}"/>
              </a:ext>
            </a:extLst>
          </p:cNvPr>
          <p:cNvSpPr/>
          <p:nvPr/>
        </p:nvSpPr>
        <p:spPr>
          <a:xfrm>
            <a:off x="5869561" y="2489404"/>
            <a:ext cx="144000" cy="810000"/>
          </a:xfrm>
          <a:prstGeom prst="rect">
            <a:avLst/>
          </a:prstGeom>
          <a:solidFill>
            <a:srgbClr val="0965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035539-14F1-8115-0F86-728CA24D2C04}"/>
              </a:ext>
            </a:extLst>
          </p:cNvPr>
          <p:cNvSpPr txBox="1"/>
          <p:nvPr/>
        </p:nvSpPr>
        <p:spPr>
          <a:xfrm>
            <a:off x="6085561" y="2532604"/>
            <a:ext cx="239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Патенты РФ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246BDD-9832-1F03-150F-5E5D49B68309}"/>
              </a:ext>
            </a:extLst>
          </p:cNvPr>
          <p:cNvSpPr txBox="1"/>
          <p:nvPr/>
        </p:nvSpPr>
        <p:spPr>
          <a:xfrm>
            <a:off x="6085561" y="2813404"/>
            <a:ext cx="2394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AF"/>
                </a:solidFill>
                <a:latin typeface="Calibri"/>
              </a:rPr>
              <a:t>Все разработки защищены
патентами Российской Федерации</a:t>
            </a:r>
          </a:p>
        </p:txBody>
      </p:sp>
      <p:sp>
        <p:nvSpPr>
          <p:cNvPr id="29" name="Rectangle 32">
            <a:extLst>
              <a:ext uri="{FF2B5EF4-FFF2-40B4-BE49-F238E27FC236}">
                <a16:creationId xmlns:a16="http://schemas.microsoft.com/office/drawing/2014/main" id="{B9FDA6F3-7AA0-B0C4-AFF9-558A8564BA69}"/>
              </a:ext>
            </a:extLst>
          </p:cNvPr>
          <p:cNvSpPr/>
          <p:nvPr/>
        </p:nvSpPr>
        <p:spPr>
          <a:xfrm>
            <a:off x="253561" y="3353404"/>
            <a:ext cx="8280000" cy="216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453C14-E964-48B0-65CB-D23F5DAF4AE5}"/>
              </a:ext>
            </a:extLst>
          </p:cNvPr>
          <p:cNvSpPr txBox="1"/>
          <p:nvPr/>
        </p:nvSpPr>
        <p:spPr>
          <a:xfrm>
            <a:off x="-1902330" y="1836115"/>
            <a:ext cx="82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965AF"/>
                </a:solidFill>
                <a:latin typeface="Calibri"/>
              </a:rPr>
              <a:t>·  ·  ·</a:t>
            </a:r>
          </a:p>
        </p:txBody>
      </p:sp>
      <p:pic>
        <p:nvPicPr>
          <p:cNvPr id="31" name="Picture 34" descr="img_01.jpg">
            <a:extLst>
              <a:ext uri="{FF2B5EF4-FFF2-40B4-BE49-F238E27FC236}">
                <a16:creationId xmlns:a16="http://schemas.microsoft.com/office/drawing/2014/main" id="{905646CA-C842-70F8-DC8A-CB170B9E6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85" y="4306423"/>
            <a:ext cx="3239384" cy="1960530"/>
          </a:xfrm>
          <a:prstGeom prst="rect">
            <a:avLst/>
          </a:prstGeom>
        </p:spPr>
      </p:pic>
      <p:pic>
        <p:nvPicPr>
          <p:cNvPr id="32" name="Picture 35" descr="img_02.jpg">
            <a:extLst>
              <a:ext uri="{FF2B5EF4-FFF2-40B4-BE49-F238E27FC236}">
                <a16:creationId xmlns:a16="http://schemas.microsoft.com/office/drawing/2014/main" id="{7114FFCF-DABC-85A2-20CA-2DA549AF5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373" y="4276473"/>
            <a:ext cx="2403541" cy="1962892"/>
          </a:xfrm>
          <a:prstGeom prst="rect">
            <a:avLst/>
          </a:prstGeom>
        </p:spPr>
      </p:pic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64B63CCA-256B-023A-8A84-6533DCA35E31}"/>
              </a:ext>
            </a:extLst>
          </p:cNvPr>
          <p:cNvGrpSpPr/>
          <p:nvPr/>
        </p:nvGrpSpPr>
        <p:grpSpPr>
          <a:xfrm>
            <a:off x="6497782" y="4341690"/>
            <a:ext cx="2196000" cy="1764000"/>
            <a:chOff x="6805561" y="3731404"/>
            <a:chExt cx="2196000" cy="1764000"/>
          </a:xfrm>
        </p:grpSpPr>
        <p:sp>
          <p:nvSpPr>
            <p:cNvPr id="33" name="Rounded Rectangle 36">
              <a:extLst>
                <a:ext uri="{FF2B5EF4-FFF2-40B4-BE49-F238E27FC236}">
                  <a16:creationId xmlns:a16="http://schemas.microsoft.com/office/drawing/2014/main" id="{F9851DAE-FE2C-716D-9C3D-BD43C983CBB5}"/>
                </a:ext>
              </a:extLst>
            </p:cNvPr>
            <p:cNvSpPr/>
            <p:nvPr/>
          </p:nvSpPr>
          <p:spPr>
            <a:xfrm>
              <a:off x="6805561" y="3731404"/>
              <a:ext cx="2196000" cy="17640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EE45F23-342A-6EE5-8B34-9F881E5157B8}"/>
                </a:ext>
              </a:extLst>
            </p:cNvPr>
            <p:cNvSpPr txBox="1"/>
            <p:nvPr/>
          </p:nvSpPr>
          <p:spPr>
            <a:xfrm>
              <a:off x="6913561" y="3785404"/>
              <a:ext cx="1980000" cy="23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002060"/>
                  </a:solidFill>
                  <a:latin typeface="Calibri"/>
                </a:rPr>
                <a:t>КЛЮЧЕВЫЕ ЗАКАЗЧИКИ</a:t>
              </a:r>
            </a:p>
          </p:txBody>
        </p:sp>
        <p:sp>
          <p:nvSpPr>
            <p:cNvPr id="35" name="Rectangle 38">
              <a:extLst>
                <a:ext uri="{FF2B5EF4-FFF2-40B4-BE49-F238E27FC236}">
                  <a16:creationId xmlns:a16="http://schemas.microsoft.com/office/drawing/2014/main" id="{E8F00632-ECD2-6017-1738-E8F7E3E4181C}"/>
                </a:ext>
              </a:extLst>
            </p:cNvPr>
            <p:cNvSpPr/>
            <p:nvPr/>
          </p:nvSpPr>
          <p:spPr>
            <a:xfrm>
              <a:off x="6913561" y="4012204"/>
              <a:ext cx="1908000" cy="14400"/>
            </a:xfrm>
            <a:prstGeom prst="rect">
              <a:avLst/>
            </a:prstGeom>
            <a:solidFill>
              <a:srgbClr val="E8EC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54ACABE6-53DB-65B3-0DFF-697EDAA9200D}"/>
                </a:ext>
              </a:extLst>
            </p:cNvPr>
            <p:cNvSpPr/>
            <p:nvPr/>
          </p:nvSpPr>
          <p:spPr>
            <a:xfrm>
              <a:off x="6949561" y="4080604"/>
              <a:ext cx="108000" cy="108000"/>
            </a:xfrm>
            <a:prstGeom prst="ellipse">
              <a:avLst/>
            </a:prstGeom>
            <a:solidFill>
              <a:srgbClr val="0965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9EBFA17-7877-2CCF-E5FB-B97D0F1A0F2E}"/>
                </a:ext>
              </a:extLst>
            </p:cNvPr>
            <p:cNvSpPr txBox="1"/>
            <p:nvPr/>
          </p:nvSpPr>
          <p:spPr>
            <a:xfrm>
              <a:off x="6949561" y="4080604"/>
              <a:ext cx="108000" cy="108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FFFFFF"/>
                  </a:solidFill>
                  <a:latin typeface="Calibri"/>
                </a:rPr>
                <a:t>·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4F7309-CE92-8DB1-255C-CD11A0C144FB}"/>
                </a:ext>
              </a:extLst>
            </p:cNvPr>
            <p:cNvSpPr txBox="1"/>
            <p:nvPr/>
          </p:nvSpPr>
          <p:spPr>
            <a:xfrm>
              <a:off x="7111561" y="4055404"/>
              <a:ext cx="1800000" cy="23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  <a:latin typeface="Calibri"/>
                </a:rPr>
                <a:t>ПАО «НОВАТЭК»</a:t>
              </a:r>
            </a:p>
          </p:txBody>
        </p:sp>
        <p:sp>
          <p:nvSpPr>
            <p:cNvPr id="39" name="Oval 42">
              <a:extLst>
                <a:ext uri="{FF2B5EF4-FFF2-40B4-BE49-F238E27FC236}">
                  <a16:creationId xmlns:a16="http://schemas.microsoft.com/office/drawing/2014/main" id="{D212A0FA-6B42-10D1-09C7-9339D4D06515}"/>
                </a:ext>
              </a:extLst>
            </p:cNvPr>
            <p:cNvSpPr/>
            <p:nvPr/>
          </p:nvSpPr>
          <p:spPr>
            <a:xfrm>
              <a:off x="6949561" y="4332603"/>
              <a:ext cx="108000" cy="108000"/>
            </a:xfrm>
            <a:prstGeom prst="ellipse">
              <a:avLst/>
            </a:prstGeom>
            <a:solidFill>
              <a:srgbClr val="0965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A2DC411-884C-C9B1-F593-2FF8A4EAAB1F}"/>
                </a:ext>
              </a:extLst>
            </p:cNvPr>
            <p:cNvSpPr txBox="1"/>
            <p:nvPr/>
          </p:nvSpPr>
          <p:spPr>
            <a:xfrm>
              <a:off x="6949561" y="4332603"/>
              <a:ext cx="108000" cy="108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FFFFFF"/>
                  </a:solidFill>
                  <a:latin typeface="Calibri"/>
                </a:rPr>
                <a:t>·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C5F4ACA-7D1D-26DF-E49A-7B96DFB2E1A3}"/>
                </a:ext>
              </a:extLst>
            </p:cNvPr>
            <p:cNvSpPr txBox="1"/>
            <p:nvPr/>
          </p:nvSpPr>
          <p:spPr>
            <a:xfrm>
              <a:off x="7111561" y="4307403"/>
              <a:ext cx="1800000" cy="23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Calibri"/>
                </a:rPr>
                <a:t>ПАО «ЕВРОХИМ»</a:t>
              </a:r>
            </a:p>
          </p:txBody>
        </p:sp>
        <p:sp>
          <p:nvSpPr>
            <p:cNvPr id="42" name="Oval 45">
              <a:extLst>
                <a:ext uri="{FF2B5EF4-FFF2-40B4-BE49-F238E27FC236}">
                  <a16:creationId xmlns:a16="http://schemas.microsoft.com/office/drawing/2014/main" id="{2F3DBFA6-D12B-E314-F8B6-5D62208ED4A1}"/>
                </a:ext>
              </a:extLst>
            </p:cNvPr>
            <p:cNvSpPr/>
            <p:nvPr/>
          </p:nvSpPr>
          <p:spPr>
            <a:xfrm>
              <a:off x="6949561" y="4584602"/>
              <a:ext cx="108000" cy="108000"/>
            </a:xfrm>
            <a:prstGeom prst="ellipse">
              <a:avLst/>
            </a:prstGeom>
            <a:solidFill>
              <a:srgbClr val="0965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CF35D8D-B38E-F27B-920A-1E0EA3A4AACD}"/>
                </a:ext>
              </a:extLst>
            </p:cNvPr>
            <p:cNvSpPr txBox="1"/>
            <p:nvPr/>
          </p:nvSpPr>
          <p:spPr>
            <a:xfrm>
              <a:off x="6949561" y="4584602"/>
              <a:ext cx="108000" cy="108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FFFFFF"/>
                  </a:solidFill>
                  <a:latin typeface="Calibri"/>
                </a:rPr>
                <a:t>·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696AE4B-05FE-68D0-00B6-3F2884C45E71}"/>
                </a:ext>
              </a:extLst>
            </p:cNvPr>
            <p:cNvSpPr txBox="1"/>
            <p:nvPr/>
          </p:nvSpPr>
          <p:spPr>
            <a:xfrm>
              <a:off x="7111561" y="4559402"/>
              <a:ext cx="1800000" cy="23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Calibri"/>
                </a:rPr>
                <a:t>АО «ТАНЕКО»</a:t>
              </a:r>
            </a:p>
          </p:txBody>
        </p:sp>
        <p:sp>
          <p:nvSpPr>
            <p:cNvPr id="45" name="Oval 48">
              <a:extLst>
                <a:ext uri="{FF2B5EF4-FFF2-40B4-BE49-F238E27FC236}">
                  <a16:creationId xmlns:a16="http://schemas.microsoft.com/office/drawing/2014/main" id="{62FC4697-ED16-757D-9F05-57C6BBCA222C}"/>
                </a:ext>
              </a:extLst>
            </p:cNvPr>
            <p:cNvSpPr/>
            <p:nvPr/>
          </p:nvSpPr>
          <p:spPr>
            <a:xfrm>
              <a:off x="6949561" y="4836601"/>
              <a:ext cx="108000" cy="108000"/>
            </a:xfrm>
            <a:prstGeom prst="ellipse">
              <a:avLst/>
            </a:prstGeom>
            <a:solidFill>
              <a:srgbClr val="0965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4607CAB-F52D-7FB0-D04D-2B2B54764863}"/>
                </a:ext>
              </a:extLst>
            </p:cNvPr>
            <p:cNvSpPr txBox="1"/>
            <p:nvPr/>
          </p:nvSpPr>
          <p:spPr>
            <a:xfrm>
              <a:off x="6949561" y="4836601"/>
              <a:ext cx="108000" cy="108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FFFFFF"/>
                  </a:solidFill>
                  <a:latin typeface="Calibri"/>
                </a:rPr>
                <a:t>·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B344F07-A04A-6F31-17F3-48BBC1A5D8C5}"/>
                </a:ext>
              </a:extLst>
            </p:cNvPr>
            <p:cNvSpPr txBox="1"/>
            <p:nvPr/>
          </p:nvSpPr>
          <p:spPr>
            <a:xfrm>
              <a:off x="7111561" y="4811401"/>
              <a:ext cx="1800000" cy="23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Calibri"/>
                </a:rPr>
                <a:t>ПАО «МОСЭНЕРГО»</a:t>
              </a:r>
            </a:p>
          </p:txBody>
        </p:sp>
        <p:sp>
          <p:nvSpPr>
            <p:cNvPr id="48" name="Oval 51">
              <a:extLst>
                <a:ext uri="{FF2B5EF4-FFF2-40B4-BE49-F238E27FC236}">
                  <a16:creationId xmlns:a16="http://schemas.microsoft.com/office/drawing/2014/main" id="{A956FBF0-A384-3F2C-4B80-10B33D8D7573}"/>
                </a:ext>
              </a:extLst>
            </p:cNvPr>
            <p:cNvSpPr/>
            <p:nvPr/>
          </p:nvSpPr>
          <p:spPr>
            <a:xfrm>
              <a:off x="6949561" y="5088600"/>
              <a:ext cx="108000" cy="108000"/>
            </a:xfrm>
            <a:prstGeom prst="ellipse">
              <a:avLst/>
            </a:prstGeom>
            <a:solidFill>
              <a:srgbClr val="0965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B228C07-0FD7-629E-07A3-B19A0FCB9394}"/>
                </a:ext>
              </a:extLst>
            </p:cNvPr>
            <p:cNvSpPr txBox="1"/>
            <p:nvPr/>
          </p:nvSpPr>
          <p:spPr>
            <a:xfrm>
              <a:off x="6949561" y="5088600"/>
              <a:ext cx="108000" cy="108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FFFFFF"/>
                  </a:solidFill>
                  <a:latin typeface="Calibri"/>
                </a:rPr>
                <a:t>·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706B3C7-96EB-4975-C2EE-429092057933}"/>
                </a:ext>
              </a:extLst>
            </p:cNvPr>
            <p:cNvSpPr txBox="1"/>
            <p:nvPr/>
          </p:nvSpPr>
          <p:spPr>
            <a:xfrm>
              <a:off x="7111561" y="5063400"/>
              <a:ext cx="1800000" cy="23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Calibri"/>
                </a:rPr>
                <a:t>АО «Воркутауголь»</a:t>
              </a:r>
            </a:p>
          </p:txBody>
        </p:sp>
      </p:grpSp>
      <p:sp>
        <p:nvSpPr>
          <p:cNvPr id="51" name="Rectangle 2">
            <a:extLst>
              <a:ext uri="{FF2B5EF4-FFF2-40B4-BE49-F238E27FC236}">
                <a16:creationId xmlns:a16="http://schemas.microsoft.com/office/drawing/2014/main" id="{35CF2795-1D09-CBD6-9D35-B298879DC34D}"/>
              </a:ext>
            </a:extLst>
          </p:cNvPr>
          <p:cNvSpPr/>
          <p:nvPr/>
        </p:nvSpPr>
        <p:spPr>
          <a:xfrm>
            <a:off x="0" y="953730"/>
            <a:ext cx="9144000" cy="52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0BFE54-D19F-93B3-70C5-43088693BC20}"/>
              </a:ext>
            </a:extLst>
          </p:cNvPr>
          <p:cNvSpPr txBox="1"/>
          <p:nvPr/>
        </p:nvSpPr>
        <p:spPr>
          <a:xfrm>
            <a:off x="288000" y="989730"/>
            <a:ext cx="84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>
                <a:solidFill>
                  <a:srgbClr val="FFFFFF"/>
                </a:solidFill>
                <a:latin typeface="Calibri"/>
              </a:rPr>
              <a:t>ООО «ФАСТ ИНЖИНИРИНГ» —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объект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исследования</a:t>
            </a:r>
            <a:endParaRPr sz="1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ounded Rectangle 36">
            <a:extLst>
              <a:ext uri="{FF2B5EF4-FFF2-40B4-BE49-F238E27FC236}">
                <a16:creationId xmlns:a16="http://schemas.microsoft.com/office/drawing/2014/main" id="{C90E162D-BB6B-69F3-FCF0-F75F16245BAA}"/>
              </a:ext>
            </a:extLst>
          </p:cNvPr>
          <p:cNvSpPr/>
          <p:nvPr/>
        </p:nvSpPr>
        <p:spPr>
          <a:xfrm>
            <a:off x="704375" y="3984054"/>
            <a:ext cx="2403541" cy="178623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36">
            <a:extLst>
              <a:ext uri="{FF2B5EF4-FFF2-40B4-BE49-F238E27FC236}">
                <a16:creationId xmlns:a16="http://schemas.microsoft.com/office/drawing/2014/main" id="{0BDFD144-6C26-5C1C-CC65-4C250EF51E8E}"/>
              </a:ext>
            </a:extLst>
          </p:cNvPr>
          <p:cNvSpPr/>
          <p:nvPr/>
        </p:nvSpPr>
        <p:spPr>
          <a:xfrm>
            <a:off x="2369007" y="3583747"/>
            <a:ext cx="2504102" cy="19699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36">
            <a:extLst>
              <a:ext uri="{FF2B5EF4-FFF2-40B4-BE49-F238E27FC236}">
                <a16:creationId xmlns:a16="http://schemas.microsoft.com/office/drawing/2014/main" id="{2025CB96-2EC1-EDBF-B05E-620AE4CE21BB}"/>
              </a:ext>
            </a:extLst>
          </p:cNvPr>
          <p:cNvSpPr/>
          <p:nvPr/>
        </p:nvSpPr>
        <p:spPr>
          <a:xfrm>
            <a:off x="5062134" y="3620618"/>
            <a:ext cx="2403541" cy="19699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36">
            <a:extLst>
              <a:ext uri="{FF2B5EF4-FFF2-40B4-BE49-F238E27FC236}">
                <a16:creationId xmlns:a16="http://schemas.microsoft.com/office/drawing/2014/main" id="{64F939BC-F7C2-6315-5D29-FBC11578EB95}"/>
              </a:ext>
            </a:extLst>
          </p:cNvPr>
          <p:cNvSpPr/>
          <p:nvPr/>
        </p:nvSpPr>
        <p:spPr>
          <a:xfrm>
            <a:off x="3340996" y="3990659"/>
            <a:ext cx="2403541" cy="17201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E519FB-99B8-B1AB-705A-832CCA8D2124}"/>
              </a:ext>
            </a:extLst>
          </p:cNvPr>
          <p:cNvSpPr txBox="1"/>
          <p:nvPr/>
        </p:nvSpPr>
        <p:spPr>
          <a:xfrm>
            <a:off x="585524" y="3877803"/>
            <a:ext cx="259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solidFill>
                  <a:srgbClr val="0965AF"/>
                </a:solidFill>
                <a:latin typeface="Calibri"/>
              </a:rPr>
              <a:t>Теплообменные аппараты </a:t>
            </a:r>
            <a:endParaRPr lang="ru-RU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9490ED-CD16-DBF1-EB31-83406924B269}"/>
              </a:ext>
            </a:extLst>
          </p:cNvPr>
          <p:cNvSpPr txBox="1"/>
          <p:nvPr/>
        </p:nvSpPr>
        <p:spPr>
          <a:xfrm>
            <a:off x="2323684" y="3515924"/>
            <a:ext cx="2645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solidFill>
                  <a:srgbClr val="0965AF"/>
                </a:solidFill>
                <a:latin typeface="Calibri"/>
              </a:rPr>
              <a:t>Массообменные аппараты </a:t>
            </a:r>
            <a:endParaRPr lang="ru-RU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D5C73E-E1CC-C032-B49B-6CE47CA2E044}"/>
              </a:ext>
            </a:extLst>
          </p:cNvPr>
          <p:cNvSpPr txBox="1"/>
          <p:nvPr/>
        </p:nvSpPr>
        <p:spPr>
          <a:xfrm>
            <a:off x="5019237" y="3527520"/>
            <a:ext cx="2664000" cy="279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solidFill>
                  <a:srgbClr val="0965AF"/>
                </a:solidFill>
                <a:latin typeface="Calibri"/>
              </a:rPr>
              <a:t>Каталитические реакторы </a:t>
            </a:r>
            <a:endParaRPr lang="ru-RU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F8BBB3-5098-DED5-ED8D-6E0563B3E458}"/>
              </a:ext>
            </a:extLst>
          </p:cNvPr>
          <p:cNvSpPr txBox="1"/>
          <p:nvPr/>
        </p:nvSpPr>
        <p:spPr>
          <a:xfrm>
            <a:off x="3277561" y="3886896"/>
            <a:ext cx="554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1" i="0" dirty="0">
                <a:solidFill>
                  <a:srgbClr val="0965AF"/>
                </a:solidFill>
                <a:latin typeface="Calibri"/>
              </a:rPr>
              <a:t>Беспламенные горелки  </a:t>
            </a:r>
          </a:p>
        </p:txBody>
      </p:sp>
      <p:sp>
        <p:nvSpPr>
          <p:cNvPr id="70" name="Rounded Rectangle 36">
            <a:extLst>
              <a:ext uri="{FF2B5EF4-FFF2-40B4-BE49-F238E27FC236}">
                <a16:creationId xmlns:a16="http://schemas.microsoft.com/office/drawing/2014/main" id="{0342E001-FDEA-6F34-ED2F-D570D3736663}"/>
              </a:ext>
            </a:extLst>
          </p:cNvPr>
          <p:cNvSpPr/>
          <p:nvPr/>
        </p:nvSpPr>
        <p:spPr>
          <a:xfrm>
            <a:off x="6049336" y="3986224"/>
            <a:ext cx="2666465" cy="182261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D38989-C8D6-C1D7-C07E-89546B05C629}"/>
              </a:ext>
            </a:extLst>
          </p:cNvPr>
          <p:cNvSpPr txBox="1"/>
          <p:nvPr/>
        </p:nvSpPr>
        <p:spPr>
          <a:xfrm>
            <a:off x="6018166" y="3905404"/>
            <a:ext cx="2950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solidFill>
                  <a:srgbClr val="0965AF"/>
                </a:solidFill>
                <a:latin typeface="Calibri"/>
              </a:rPr>
              <a:t>Водородные аккумуляторы</a:t>
            </a:r>
            <a:endParaRPr lang="ru-RU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B57A2A-75CE-D2D2-966B-A742E8E002CF}"/>
              </a:ext>
            </a:extLst>
          </p:cNvPr>
          <p:cNvSpPr txBox="1"/>
          <p:nvPr/>
        </p:nvSpPr>
        <p:spPr>
          <a:xfrm>
            <a:off x="585524" y="3486133"/>
            <a:ext cx="151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1" i="0" dirty="0">
                <a:solidFill>
                  <a:srgbClr val="0965AF"/>
                </a:solidFill>
                <a:latin typeface="Calibri"/>
              </a:rPr>
              <a:t>ПРОДУКЦИЯ:  </a:t>
            </a:r>
          </a:p>
        </p:txBody>
      </p:sp>
    </p:spTree>
    <p:extLst>
      <p:ext uri="{BB962C8B-B14F-4D97-AF65-F5344CB8AC3E}">
        <p14:creationId xmlns:p14="http://schemas.microsoft.com/office/powerpoint/2010/main" val="301201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173F77-7701-D98D-D8FD-9AAE7D51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4DC4FE5A-05D4-E950-15ED-D5891148D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45" y="1048849"/>
            <a:ext cx="6946268" cy="501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D90C53-553D-2FDD-2DC4-46925CCE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6" name="Рисунок 5" descr="Изображение выглядит как текст, снимок экрана, веб-страница, Веб-сай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1576651-1DA8-FF85-A699-D52B87B85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52" y="997171"/>
            <a:ext cx="7007203" cy="506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14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86C558-F47A-3CEF-587B-E6E8D418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50530" y="6374229"/>
            <a:ext cx="213360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0239E32-2C84-95AB-7CE0-A99A8FE75E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51"/>
          <a:stretch/>
        </p:blipFill>
        <p:spPr>
          <a:xfrm>
            <a:off x="988470" y="1031101"/>
            <a:ext cx="7300275" cy="504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6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04A3A0-542C-9ECD-784E-3B95B8F7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1A4127-1E4D-7428-9AB8-81DEA49A2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0294"/>
            <a:ext cx="7772400" cy="483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AF7A13-DBBA-7F04-0EBA-AA801A5F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0635" y="6306480"/>
            <a:ext cx="213360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68C8C9-3CFF-2DFF-E560-F4223335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50" y="1041933"/>
            <a:ext cx="7073805" cy="510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6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16A05-C7B1-4F9F-91C2-43215E03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AF2810-44EB-D1C4-8497-3F01C61C0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94" y="1031101"/>
            <a:ext cx="6972356" cy="503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4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34">
            <a:extLst>
              <a:ext uri="{FF2B5EF4-FFF2-40B4-BE49-F238E27FC236}">
                <a16:creationId xmlns:a16="http://schemas.microsoft.com/office/drawing/2014/main" id="{86F27472-A135-BEDB-5D1F-6CD656857331}"/>
              </a:ext>
            </a:extLst>
          </p:cNvPr>
          <p:cNvSpPr/>
          <p:nvPr/>
        </p:nvSpPr>
        <p:spPr>
          <a:xfrm>
            <a:off x="359998" y="3679723"/>
            <a:ext cx="8408324" cy="2386967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EF43336B-A07C-58D1-9511-7A5106353BCC}"/>
              </a:ext>
            </a:extLst>
          </p:cNvPr>
          <p:cNvSpPr/>
          <p:nvPr/>
        </p:nvSpPr>
        <p:spPr>
          <a:xfrm>
            <a:off x="367838" y="3638640"/>
            <a:ext cx="8408324" cy="43436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6C5CDF83-13BA-E614-8674-D4DD83EF5BF9}"/>
              </a:ext>
            </a:extLst>
          </p:cNvPr>
          <p:cNvSpPr/>
          <p:nvPr/>
        </p:nvSpPr>
        <p:spPr>
          <a:xfrm>
            <a:off x="359999" y="1444304"/>
            <a:ext cx="8408325" cy="1984695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9B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65A59C05-D44C-1A06-DF66-B2A748074366}"/>
              </a:ext>
            </a:extLst>
          </p:cNvPr>
          <p:cNvSpPr/>
          <p:nvPr/>
        </p:nvSpPr>
        <p:spPr>
          <a:xfrm>
            <a:off x="359998" y="1444305"/>
            <a:ext cx="8408325" cy="256507"/>
          </a:xfrm>
          <a:prstGeom prst="rect">
            <a:avLst/>
          </a:prstGeom>
          <a:solidFill>
            <a:srgbClr val="9B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438EB80-C057-0D78-2EB2-B69A3C29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0635" y="6306480"/>
            <a:ext cx="213360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81F8F-C640-2692-A8BD-EC8E54466EEC}"/>
              </a:ext>
            </a:extLst>
          </p:cNvPr>
          <p:cNvSpPr txBox="1"/>
          <p:nvPr/>
        </p:nvSpPr>
        <p:spPr>
          <a:xfrm>
            <a:off x="862720" y="3908580"/>
            <a:ext cx="7433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b="1" dirty="0">
              <a:solidFill>
                <a:schemeClr val="tx2"/>
              </a:solidFill>
              <a:latin typeface="Helvetica Neue" panose="02000503000000020004" pitchFamily="2" charset="0"/>
            </a:endParaRPr>
          </a:p>
          <a:p>
            <a:r>
              <a:rPr lang="ru-RU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При этом научная новизна нашей работы — авторская методика СИЭР и системное описание барьеров коммуникации — делает эти результаты актуальными не только для конкретной компании, но и для других инжиниринговых предприятий в условиях курса на импортозамещение.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7E31EF-DED0-9284-7471-520BB021DED3}"/>
              </a:ext>
            </a:extLst>
          </p:cNvPr>
          <p:cNvSpPr txBox="1"/>
          <p:nvPr/>
        </p:nvSpPr>
        <p:spPr>
          <a:xfrm>
            <a:off x="735360" y="1789415"/>
            <a:ext cx="6953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Результаты исследования наглядно показывают, что внедрение комплексной рекламной программы обеспечит ООО «ФАСТ ИНЖИНИРИНГ» стабильный поток заявок и рост выручки даже в рамках ограниченного бюджета. </a:t>
            </a:r>
          </a:p>
        </p:txBody>
      </p:sp>
    </p:spTree>
    <p:extLst>
      <p:ext uri="{BB962C8B-B14F-4D97-AF65-F5344CB8AC3E}">
        <p14:creationId xmlns:p14="http://schemas.microsoft.com/office/powerpoint/2010/main" val="3664596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6F2CB7-23FA-48E4-AD16-E5C88A93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165" y="6356350"/>
            <a:ext cx="47958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3B7E6BA-F1F9-7B65-9664-3F9679AB6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10" y="1630575"/>
            <a:ext cx="8416180" cy="319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89231"/>
      </p:ext>
    </p:extLst>
  </p:cSld>
  <p:clrMapOvr>
    <a:masterClrMapping/>
  </p:clrMapOvr>
</p:sld>
</file>

<file path=ppt/theme/theme1.xml><?xml version="1.0" encoding="utf-8"?>
<a:theme xmlns:a="http://schemas.openxmlformats.org/drawingml/2006/main" name="mfua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2255</TotalTime>
  <Words>346</Words>
  <Application>Microsoft Macintosh PowerPoint</Application>
  <PresentationFormat>Экран (4:3)</PresentationFormat>
  <Paragraphs>67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Franklin Gothic Book</vt:lpstr>
      <vt:lpstr>Franklin Gothic Medium Cond</vt:lpstr>
      <vt:lpstr>Helvetica Neue</vt:lpstr>
      <vt:lpstr>mfua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Mihaiylova.Y</dc:creator>
  <cp:lastModifiedBy>Остапенко Михаил Дмитриевич</cp:lastModifiedBy>
  <cp:revision>123</cp:revision>
  <dcterms:created xsi:type="dcterms:W3CDTF">2014-06-06T11:46:34Z</dcterms:created>
  <dcterms:modified xsi:type="dcterms:W3CDTF">2026-05-30T18:33:38Z</dcterms:modified>
</cp:coreProperties>
</file>