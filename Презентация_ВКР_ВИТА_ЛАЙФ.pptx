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handoutMasterIdLst>
    <p:handoutMasterId r:id="rId7"/>
  </p:handoutMasterIdLst>
  <p:sldIdLst>
    <p:sldId id="256" r:id="rId5"/>
    <p:sldId id="257" r:id="rId4"/>
    <p:sldId id="258" r:id="rId3"/>
    <p:sldId id="259" r:id="rId2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5AF"/>
    <a:srgbClr val="2E46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>
        <p:scale>
          <a:sx n="118" d="100"/>
          <a:sy n="118" d="100"/>
        </p:scale>
        <p:origin x="-148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119895" cy="11989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EC4E2-312E-40CA-BB73-669C39065786}" type="datetimeFigureOut">
              <a:rPr lang="ru-RU" smtClean="0"/>
              <a:pPr/>
              <a:t>25.05.2020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6B20-E780-4CC1-ADA5-D4276F431C2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0068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82F07-21A8-452B-830F-6F275006A33E}" type="datetimeFigureOut">
              <a:rPr lang="ru-RU" smtClean="0"/>
              <a:pPr/>
              <a:t>25.05.2020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2CC7F-4B8F-4971-B02C-4E99B9754D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0266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23D1-D7DC-4591-8B16-454534D8710C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2DAA-37A7-4574-9524-5D7BADAEC38D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C9B3-8FFD-42E5-B7EB-F0940352A9D4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A867B-E5FE-4FC4-865B-32A2D9C963E5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9ADF-A8B4-4D2F-917B-437CC9B9A1C8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6561-EB4D-4AD2-8019-9E2996AD71FD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F0B72-E5A1-44E1-A9DB-C9806E27F32C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9199-4694-42D0-8B18-C4941EBE0C8D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8FB2B-9458-442D-9586-942FF85D3874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026C-C2E1-4D4B-B1B4-784E50A3B18B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F9B1-6C1D-4F32-95AA-811C294F742E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55F98-5148-4E11-98BB-6DE8AF8901CE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b="1" sz="2400">
                <a:solidFill>
                  <a:srgbClr val="1F3A68"/>
                </a:solidFill>
              </a:rPr>
              <a:t>Организация коммерческой деятельности в сети фирменных магазинов промышленного предприятия (на материалах АО «ВИТА ЛАЙФ»)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 b="1"/>
              <a:t>Выпускная квалификационная работа</a:t>
            </a:r>
          </a:p>
          <a:p>
            <a:pPr algn="ctr"/>
            <a:r>
              <a:rPr sz="1000" b="0"/>
              <a:t/>
            </a:r>
          </a:p>
          <a:p>
            <a:pPr algn="ctr"/>
            <a:r>
              <a:rPr sz="1300" b="0"/>
              <a:t>Образовательная организация: Московский финансово-юридический университет МФЮА</a:t>
            </a:r>
          </a:p>
          <a:p>
            <a:pPr algn="ctr"/>
            <a:r>
              <a:rPr sz="1300" b="0"/>
              <a:t>Студент: __________________________</a:t>
            </a:r>
          </a:p>
          <a:p>
            <a:pPr algn="ctr"/>
            <a:r>
              <a:rPr sz="1300" b="0"/>
              <a:t>Научный руководитель: ____________________</a:t>
            </a:r>
          </a:p>
          <a:p>
            <a:pPr algn="ctr"/>
            <a:r>
              <a:rPr sz="1000" b="0"/>
              <a:t/>
            </a:r>
          </a:p>
          <a:p>
            <a:pPr algn="ctr"/>
            <a:r>
              <a:rPr sz="1300" b="0"/>
              <a:t>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Актуальность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Актуальность: усиление конкуренции в розничных каналах сбыта, цифровизация торговых операций и трансформация стратегий промышленных предприятий — переход от сбыта через посредников к собственной фирменной рознице</a:t>
            </a:r>
          </a:p>
          <a:p>
            <a:pPr/>
            <a:r>
              <a:rPr sz="1400"/>
              <a:t>Объект: финансово-хозяйственная деятельность АО «ВИТА ЛАЙФ» (ИНН 7719285076, Московская область, г. Видное)</a:t>
            </a:r>
          </a:p>
          <a:p>
            <a:pPr/>
            <a:r>
              <a:rPr sz="1400"/>
              <a:t>Предмет: совокупность теоретических, методических и практических положений, связанных с организацией коммерческой деятельности в сети фирменных магазинов промышленного предприятия</a:t>
            </a:r>
          </a:p>
          <a:p>
            <a:pPr/>
            <a:r>
              <a:rPr sz="1400"/>
              <a:t>Цель: разработать организационно-коммерческую модель сети фирменных магазинов АО «ВИТА ЛАЙФ» в рамках формируемого производственно-сбытового направления и оценить её экономическую эффективность</a:t>
            </a:r>
          </a:p>
          <a:p>
            <a:pPr/>
            <a:r>
              <a:rPr sz="1400"/>
              <a:t>Задачи:</a:t>
            </a:r>
          </a:p>
          <a:p>
            <a:pPr lvl="1"/>
            <a:r>
              <a:rPr sz="1400"/>
              <a:t>раскрыть теоретические основы коммерческой деятельности и форматов фирменной розницы;</a:t>
            </a:r>
          </a:p>
          <a:p>
            <a:pPr lvl="1"/>
            <a:r>
              <a:rPr sz="1400"/>
              <a:t>дать организационно-экономическую характеристику АО «ВИТА ЛАЙФ» и провести SWOT-/PEST-анализ;</a:t>
            </a:r>
          </a:p>
          <a:p>
            <a:pPr lvl="1"/>
            <a:r>
              <a:rPr sz="1400"/>
              <a:t>разработать организационно-коммерческую модель сети из 5 фирменных магазинов и оценить её эффективность.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Общая характеристика АО «ВИТА ЛАЙФ»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АО «ВИТА ЛАЙФ» — непубличное акционерное общество, дата регистрации 29.10.2003, ОГРН 1037719056760, ИНН 7719285076</a:t>
            </a:r>
          </a:p>
          <a:p>
            <a:pPr/>
            <a:r>
              <a:rPr sz="1500"/>
              <a:t>Юридический адрес: 142700, Московская область, г. Видное, Северная промзона, проезд Проектируемый 5208, влд. 6А</a:t>
            </a:r>
          </a:p>
          <a:p>
            <a:pPr/>
            <a:r>
              <a:rPr sz="1500"/>
              <a:t>Основной ОКВЭД 68.10 — «Покупка и продажа собственного недвижимого имущества»; +5 дополнительных кодов</a:t>
            </a:r>
          </a:p>
          <a:p>
            <a:pPr/>
            <a:r>
              <a:rPr sz="1500"/>
              <a:t>Категория: микропредприятие; среднесписочная численность — до 15 человек; форма собственности — частная</a:t>
            </a:r>
          </a:p>
          <a:p>
            <a:pPr/>
            <a:r>
              <a:rPr sz="1500"/>
              <a:t>Имущественный комплекс: производственные, складские, офисные и торговые помещения общей площадью около 4 200 м² на земельном участке 1,2 га</a:t>
            </a:r>
          </a:p>
          <a:p>
            <a:pPr/>
            <a:r>
              <a:rPr sz="1500"/>
              <a:t>Локация — северная промышленная зона г. Видное, в 800 м от Каширского шоссе и 1,5 км от станции МЦД «Расторгуево»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Ключевые факты об организации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Микропредприятие имущественного профиля; 22 года деятельности на рынке коммерческой недвижимости</a:t>
            </a:r>
          </a:p>
          <a:p>
            <a:pPr/>
            <a:r>
              <a:rPr sz="1500"/>
              <a:t>Балансовая стоимость недвижимого имущества — 86 540 тыс. руб.; рыночная оценка — 145–160 млн руб.</a:t>
            </a:r>
          </a:p>
          <a:p>
            <a:pPr/>
            <a:r>
              <a:rPr sz="1500"/>
              <a:t>Структура имущественного комплекса: производство 1 800 м², склад 1 200 м², офис 600 м², торговые площади 600 м²</a:t>
            </a:r>
          </a:p>
          <a:p>
            <a:pPr/>
            <a:r>
              <a:rPr sz="1500"/>
              <a:t>Выручка волатильна: 23,2 → 20,2 → 27,4 → 13,7 млн руб. (2022→2025); среднегодовой темп прироста −16,2 %</a:t>
            </a:r>
          </a:p>
          <a:p>
            <a:pPr/>
            <a:r>
              <a:rPr sz="1500"/>
              <a:t>По итогам 2025 г. — чистый убыток 4,5 млн руб., что свидетельствует об исчерпании ресурсов действующей модели</a:t>
            </a:r>
          </a:p>
          <a:p>
            <a:pPr/>
            <a:r>
              <a:rPr sz="1500"/>
              <a:t>Зона размещения проекта — Ленинский городской округ (≈220 тыс. чел.) и зона 30-минутной транспортной доступности ≈850 тыс. чел.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Анализ показателей деятельности. Часть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1548000"/>
          <a:ext cx="540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  <a:gridCol w="1080000"/>
                <a:gridCol w="1080000"/>
              </a:tblGrid>
              <a:tr h="54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Показатель, тыс. руб.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2022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100" b="1"/>
                        <a:t>Выручка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23 200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20 200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27 400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13 700</a:t>
                      </a:r>
                    </a:p>
                  </a:txBody>
                  <a:tcPr marL="36000" marR="36000" marT="18000" marB="18000"/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100" b="1"/>
                        <a:t>Расходы по обычной деятельности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21 900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21 700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27 200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18 200</a:t>
                      </a:r>
                    </a:p>
                  </a:txBody>
                  <a:tcPr marL="36000" marR="36000" marT="18000" marB="18000"/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100" b="1"/>
                        <a:t>Прибыль (убыток) от продаж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1 300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−1 500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−4 500</a:t>
                      </a:r>
                    </a:p>
                  </a:txBody>
                  <a:tcPr marL="36000" marR="36000" marT="18000" marB="18000"/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100" b="1"/>
                        <a:t>Чистая прибыль (убыток)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1 300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−1 500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228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−4 500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52000" y="1548000"/>
          <a:ext cx="3240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427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Коэффициент (2025 г.)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Знач.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Норма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427500">
                <a:tc>
                  <a:txBody>
                    <a:bodyPr wrap="square"/>
                    <a:lstStyle/>
                    <a:p>
                      <a:r>
                        <a:rPr sz="1000" b="1"/>
                        <a:t>Текущая ликвидность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0,75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≥ 1,5</a:t>
                      </a:r>
                    </a:p>
                  </a:txBody>
                  <a:tcPr marL="36000" marR="36000" marT="18000" marB="18000"/>
                </a:tc>
              </a:tr>
              <a:tr h="427500">
                <a:tc>
                  <a:txBody>
                    <a:bodyPr wrap="square"/>
                    <a:lstStyle/>
                    <a:p>
                      <a:r>
                        <a:rPr sz="1000" b="1"/>
                        <a:t>Быстрая ликвидность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0,68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≥ 0,8</a:t>
                      </a:r>
                    </a:p>
                  </a:txBody>
                  <a:tcPr marL="36000" marR="36000" marT="18000" marB="18000"/>
                </a:tc>
              </a:tr>
              <a:tr h="427500">
                <a:tc>
                  <a:txBody>
                    <a:bodyPr wrap="square"/>
                    <a:lstStyle/>
                    <a:p>
                      <a:r>
                        <a:rPr sz="1000" b="1"/>
                        <a:t>Абсолютная ликвидность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0,22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≥ 0,2</a:t>
                      </a:r>
                    </a:p>
                  </a:txBody>
                  <a:tcPr marL="36000" marR="36000" marT="18000" marB="18000"/>
                </a:tc>
              </a:tr>
              <a:tr h="427500">
                <a:tc>
                  <a:txBody>
                    <a:bodyPr wrap="square"/>
                    <a:lstStyle/>
                    <a:p>
                      <a:r>
                        <a:rPr sz="1000" b="1"/>
                        <a:t>Автономия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0,38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≥ 0,5</a:t>
                      </a:r>
                    </a:p>
                  </a:txBody>
                  <a:tcPr marL="36000" marR="36000" marT="18000" marB="18000"/>
                </a:tc>
              </a:tr>
              <a:tr h="427500">
                <a:tc>
                  <a:txBody>
                    <a:bodyPr wrap="square"/>
                    <a:lstStyle/>
                    <a:p>
                      <a:r>
                        <a:rPr sz="1000" b="1"/>
                        <a:t>Финансовая устойчивость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0,62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≥ 0,7</a:t>
                      </a:r>
                    </a:p>
                  </a:txBody>
                  <a:tcPr marL="36000" marR="36000" marT="18000" marB="18000"/>
                </a:tc>
              </a:tr>
              <a:tr h="427500">
                <a:tc>
                  <a:txBody>
                    <a:bodyPr wrap="square"/>
                    <a:lstStyle/>
                    <a:p>
                      <a:r>
                        <a:rPr sz="1000" b="1"/>
                        <a:t>Рентабельность продаж, %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−32,8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 marL="36000" marR="36000" marT="18000" marB="18000"/>
                </a:tc>
              </a:tr>
              <a:tr h="427500">
                <a:tc>
                  <a:txBody>
                    <a:bodyPr wrap="square"/>
                    <a:lstStyle/>
                    <a:p>
                      <a:r>
                        <a:rPr sz="1000" b="1"/>
                        <a:t>ROA / ROE, %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−27,1 / −70,6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0000" y="4536000"/>
            <a:ext cx="5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Вывод. В 2023 г. получен убыток 1,5 млн руб., в 2025 г. выручка снизилась до 13,7 млн руб., чистый убыток — 4,5 млн руб. Среднегодовой темп прироста выручки за 2022–2025 гг. отрицательный (−16,2 %). Действующая бизнес-модель имущественного микропредприятия исчерпала ресурс роста.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652000"/>
            <a:ext cx="87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/>
              <a:t>Источник: бухгалтерская (финансовая) отчётность АО «ВИТА ЛАЙФ» за 2022–2025 гг.; табл. 6 и 20 ВКР.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Анализ показателей деятельности. Часть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1548000"/>
          <a:ext cx="468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000"/>
                <a:gridCol w="1560000"/>
                <a:gridCol w="1560000"/>
              </a:tblGrid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Раздел баланса (на 31.12.2025)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тыс. руб.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I. Внеоборотные активы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11 850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71,4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    в т. ч. ОС (недвижимость)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11 050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66,6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II. Оборотные активы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4 740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28,6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    в т. ч. дебиторская задолженность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2 850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17,2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    в т. ч. денежные средства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1 410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8,5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Итого активы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16 590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100,0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III. Капитал и резервы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6 370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38,4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IV. Долгосрочные обязательства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3 940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23,7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V. Краткосрочные обязательства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6 280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37,9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968000" y="1548000"/>
          <a:ext cx="396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1320000"/>
                <a:gridCol w="1320000"/>
              </a:tblGrid>
              <a:tr h="38571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Локация (Видное)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S, м²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Поток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385714">
                <a:tc>
                  <a:txBody>
                    <a:bodyPr wrap="square"/>
                    <a:lstStyle/>
                    <a:p>
                      <a:r>
                        <a:rPr sz="1000" b="1"/>
                        <a:t>ТЦ «Курс» (собств.)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180</a:t>
                      </a:r>
                    </a:p>
                  </a:txBody>
                  <a:tcPr marL="36000" marR="36000" marT="18000" marB="18000"/>
                </a:tc>
              </a:tr>
              <a:tr h="385714">
                <a:tc>
                  <a:txBody>
                    <a:bodyPr wrap="square"/>
                    <a:lstStyle/>
                    <a:p>
                      <a:r>
                        <a:rPr sz="1000" b="1"/>
                        <a:t>Ул. Советская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2 200</a:t>
                      </a:r>
                    </a:p>
                  </a:txBody>
                  <a:tcPr marL="36000" marR="36000" marT="18000" marB="18000"/>
                </a:tc>
              </a:tr>
              <a:tr h="385714">
                <a:tc>
                  <a:txBody>
                    <a:bodyPr wrap="square"/>
                    <a:lstStyle/>
                    <a:p>
                      <a:r>
                        <a:rPr sz="1000" b="1"/>
                        <a:t>ЖК «Видный город»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1 600</a:t>
                      </a:r>
                    </a:p>
                  </a:txBody>
                  <a:tcPr marL="36000" marR="36000" marT="18000" marB="18000"/>
                </a:tc>
              </a:tr>
              <a:tr h="385714">
                <a:tc>
                  <a:txBody>
                    <a:bodyPr wrap="square"/>
                    <a:lstStyle/>
                    <a:p>
                      <a:r>
                        <a:rPr sz="1000" b="1"/>
                        <a:t>Район Завидное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95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2 800</a:t>
                      </a:r>
                    </a:p>
                  </a:txBody>
                  <a:tcPr marL="36000" marR="36000" marT="18000" marB="18000"/>
                </a:tc>
              </a:tr>
              <a:tr h="385714">
                <a:tc>
                  <a:txBody>
                    <a:bodyPr wrap="square"/>
                    <a:lstStyle/>
                    <a:p>
                      <a:r>
                        <a:rPr sz="1000" b="1"/>
                        <a:t>Привокзальная пл.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3 100</a:t>
                      </a:r>
                    </a:p>
                  </a:txBody>
                  <a:tcPr marL="36000" marR="36000" marT="18000" marB="18000"/>
                </a:tc>
              </a:tr>
              <a:tr h="385716">
                <a:tc>
                  <a:txBody>
                    <a:bodyPr wrap="square"/>
                    <a:lstStyle/>
                    <a:p>
                      <a:r>
                        <a:rPr sz="1000" b="1"/>
                        <a:t>Итого по сети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450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≈ 9 880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68000" y="4320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Ставки аренды малых форматов — 1 200–1 800 руб./м²/мес., на 15–20 % ниже среднеобластных. Вакантность — 8–12 %.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400000"/>
            <a:ext cx="87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Вывод: 71,4 % активов — внеоборотные (недвижимость), что одновременно сильная сторона (база для размещения производства) и слабая (низкая ликвидность). Конъюнктура локального рынка благоприятна для запуска сети.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SWOT-анализ АО «ВИТА ЛАЙФ»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8000" y="1548000"/>
          <a:ext cx="85320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000"/>
                <a:gridCol w="4266000"/>
              </a:tblGrid>
              <a:tr h="945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Сильные стороны (S)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Слабые стороны (W)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945000">
                <a:tc>
                  <a:txBody>
                    <a:bodyPr wrap="square"/>
                    <a:lstStyle/>
                    <a:p>
                      <a:r>
                        <a:rPr sz="1000"/>
                        <a:t>• Собственный имущественный комплекс в Видном
• Отсутствие аренды для основной площадки
• Категория микропредприятия с правом на льготы
• Транспортная доступность и инфраструктура
• Гибкость использования недвижимости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• Отсутствие производственной и торговой экспертизы
• Узкая операционная база и малая численность
• Отрицательная динамика финансовых результатов (2025)
• Низкие коэффициенты ликвидности и автономии
• Отсутствие узнаваемой торговой марки</a:t>
                      </a:r>
                    </a:p>
                  </a:txBody>
                  <a:tcPr marL="36000" marR="36000" marT="18000" marB="18000"/>
                </a:tc>
              </a:tr>
              <a:tr h="945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Возможности (O)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Угрозы (T)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945000">
                <a:tc>
                  <a:txBody>
                    <a:bodyPr wrap="square"/>
                    <a:lstStyle/>
                    <a:p>
                      <a:r>
                        <a:rPr sz="1000"/>
                        <a:t>• Госпрограммы поддержки малых производителей
• Рост спроса на продукты ЗОЖ и функциональные напитки
• Освобождение ниш после ухода иностранных брендов
• Развитие цифровых каналов прямой коммуникации
• Региональные программы поддержки производителей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• Высокая ключевая ставка, дорогие заёмные средства
• Снижение реальных располагаемых доходов
• Конкуренция крупных производителей и торговых сетей
• Рост стоимости аренды и труда
• Изменение требований к сертификации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88000" y="5400000"/>
            <a:ext cx="853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Итог: стратегия S–O — запуск производственно-сбытового направления (функциональные напитки и продукция ЗОЖ) с использованием собственного имущественного комплекса и мер государственной поддержки. Слабые стороны компенсируются привлечением отраслевых специалистов и поэтапным масштабированием сети.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Мероприятия и 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/>
              <a:t>Создать на базе АО «ВИТА ЛАЙФ» производственно-сбытовое направление: функциональные напитки и продукция здорового питания, торговая марка «ВИТА ЛАЙФ»</a:t>
            </a:r>
          </a:p>
          <a:p>
            <a:pPr/>
            <a:r>
              <a:rPr sz="1300"/>
              <a:t>Открыть 5 фирменных магазинов малого формата (≈90 м² каждый, совокупно 450 м²) в Видном и южном секторе Московской агломерации (1 в собственном помещении ТЦ «Курс»)</a:t>
            </a:r>
          </a:p>
          <a:p>
            <a:pPr/>
            <a:r>
              <a:rPr sz="1300"/>
              <a:t>Сформировать ассортиментную матрицу: 38 SKU в 1-й год → 64 SKU на 3-й год; принцип «ядро (70 %) + расширение (30 %)»; средневзвешенная цена 138 руб./усл. бутылку</a:t>
            </a:r>
          </a:p>
          <a:p>
            <a:pPr/>
            <a:r>
              <a:rPr sz="1300"/>
              <a:t>Реализовать концепцию магазина: торговый зал 60 %, склад 20 %, служебная и входная зоны по 10 %; единый фирменный стиль, дегустационная зона, выдача интернет-заказов, приём тары</a:t>
            </a:r>
          </a:p>
          <a:p>
            <a:pPr/>
            <a:r>
              <a:rPr sz="1300"/>
              <a:t>Внедрить единую информационную систему управления розницей (POS, учёт запасов, ценообразование, аналитика) и программу лояльности; локальный маркетинг и геотаргетинг 3–5 км</a:t>
            </a:r>
          </a:p>
          <a:p>
            <a:pPr/>
            <a:r>
              <a:rPr sz="1300"/>
              <a:t>Структура управления: стратегический уровень (генеральный директор, коммерческий директор) → тактический (управляющий сетью, категорийный, маркетолог) → операционный (39 ставок, ФОТ ≈ 41,8 млн руб./год)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Экономическая эффективность проекта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6000" y="1548000"/>
          <a:ext cx="414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000"/>
                <a:gridCol w="1380000"/>
                <a:gridCol w="1380000"/>
              </a:tblGrid>
              <a:tr h="33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Инвестиционные затраты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тыс. руб.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Производственное оборудование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28 500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36,3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Лабораторное оборудование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3 800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4,8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Реконструкция и сети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8 200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10,4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Оборудование 5 магазинов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14 500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18,5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Транспорт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5 600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7,1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Цифровизация и ИС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4 200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5,4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Регистрация ТМ и сертификация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1 800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2,3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Стартовый товарный запас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4 900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6,2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Маркетинговый запуск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3 600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4,6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Резерв непредвиденных расходов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3 400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4,4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Итого инвестиции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78 500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100,0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28000" y="1548000"/>
          <a:ext cx="4464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00"/>
                <a:gridCol w="744000"/>
                <a:gridCol w="744000"/>
                <a:gridCol w="744000"/>
                <a:gridCol w="744000"/>
                <a:gridCol w="744000"/>
              </a:tblGrid>
              <a:tr h="33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Прогноз выручки, млн руб.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1-й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2-й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3-й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4-й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5-й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Сеть фирменных магазинов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41,2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98,4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157,3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176,8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191,0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Интернет-площадка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6,8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18,0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35,0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42,8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49,5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Оптовые каналы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4,5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11,0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26,1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32,4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38,0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Итого выручка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52,5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127,4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218,4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252,0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278,5</a:t>
                      </a:r>
                    </a:p>
                  </a:txBody>
                  <a:tcPr marL="36000" marR="36000" marT="18000" marB="18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/>
                        <a:t>Чистая прибыль, тыс. руб.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1 120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18 240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46 400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58 640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68 480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28000" y="3600000"/>
          <a:ext cx="4464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000"/>
                <a:gridCol w="1488000"/>
                <a:gridCol w="1488000"/>
              </a:tblGrid>
              <a:tr h="30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Показатель эффективности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Норматив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r>
                        <a:rPr sz="1000" b="1"/>
                        <a:t>NPV (r = 20 %)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47,2 млн руб.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&gt; 0</a:t>
                      </a:r>
                    </a:p>
                  </a:txBody>
                  <a:tcPr marL="36000" marR="36000" marT="18000" marB="18000"/>
                </a:tc>
              </a:tr>
              <a:tr h="300000">
                <a:tc>
                  <a:txBody>
                    <a:bodyPr wrap="square"/>
                    <a:lstStyle/>
                    <a:p>
                      <a:r>
                        <a:rPr sz="1000" b="1"/>
                        <a:t>IRR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32,4 %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&gt; r</a:t>
                      </a:r>
                    </a:p>
                  </a:txBody>
                  <a:tcPr marL="36000" marR="36000" marT="18000" marB="18000"/>
                </a:tc>
              </a:tr>
              <a:tr h="300000">
                <a:tc>
                  <a:txBody>
                    <a:bodyPr wrap="square"/>
                    <a:lstStyle/>
                    <a:p>
                      <a:r>
                        <a:rPr sz="1000" b="1"/>
                        <a:t>PI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1,60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&gt; 1</a:t>
                      </a:r>
                    </a:p>
                  </a:txBody>
                  <a:tcPr marL="36000" marR="36000" marT="18000" marB="18000"/>
                </a:tc>
              </a:tr>
              <a:tr h="300000">
                <a:tc>
                  <a:txBody>
                    <a:bodyPr wrap="square"/>
                    <a:lstStyle/>
                    <a:p>
                      <a:r>
                        <a:rPr sz="1000" b="1"/>
                        <a:t>DPP (с тер. ст.)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3,2 года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&lt; 5 лет</a:t>
                      </a:r>
                    </a:p>
                  </a:txBody>
                  <a:tcPr marL="36000" marR="36000" marT="18000" marB="18000"/>
                </a:tc>
              </a:tr>
              <a:tr h="300000">
                <a:tc>
                  <a:txBody>
                    <a:bodyPr wrap="square"/>
                    <a:lstStyle/>
                    <a:p>
                      <a:r>
                        <a:rPr sz="1000" b="1"/>
                        <a:t>E(NPV) сценарного анализа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42,6 млн руб.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&gt; 0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6000" y="5616000"/>
            <a:ext cx="86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Вывод: проект коммерчески эффективен — все 4 критерия (NPV &gt; 0, IRR &gt; r, PI &gt; 1, DPP &lt; 5 лет) выполнены. PSM = 29,1 тыс. руб./м²/мес. в коридоре нормы. Стресс-тест проекта — устойчивость к одиночному риску ±10 %.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Цель ВКР достигнута: разработана организационно-коммерческая модель сети из 5 фирменных магазинов АО «ВИТА ЛАЙФ» и доказана её экономическая эффективность</a:t>
            </a:r>
          </a:p>
          <a:p>
            <a:pPr/>
            <a:r>
              <a:rPr sz="1400"/>
              <a:t>Установлено: действующая бизнес-модель имущественного микропредприятия исчерпала ресурс роста (выручка 13,7 млн руб., убыток 4,5 млн руб. в 2025 г.) — необходима стратегическая диверсификация</a:t>
            </a:r>
          </a:p>
          <a:p>
            <a:pPr/>
            <a:r>
              <a:rPr sz="1400"/>
              <a:t>Использование собственного имущественного комплекса в Видном позволяет снизить капитальные затраты и обеспечить синергию производственного и торгового контуров</a:t>
            </a:r>
          </a:p>
          <a:p>
            <a:pPr/>
            <a:r>
              <a:rPr sz="1400"/>
              <a:t>Финансовый план: инвестиции 78,5 млн руб. (60 % собственные, 40 % льготный кредит); прогноз выручки 52,5 → 278,5 млн руб.; годовая ВМ при выходе на проектную мощность — 52,5 %</a:t>
            </a:r>
          </a:p>
          <a:p>
            <a:pPr/>
            <a:r>
              <a:rPr sz="1400"/>
              <a:t>Гипотеза подтверждена: NPV = 47,2 млн руб., IRR = 32,4 %, PI = 1,60, DPP = 3,2 года. Проект рекомендован к реализации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652000"/>
            <a:ext cx="88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01A2E"/>
                </a:solidFill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fua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fua">
      <a:majorFont>
        <a:latin typeface="Franklin Gothic Medium Cond"/>
        <a:ea typeface=""/>
        <a:cs typeface=""/>
      </a:majorFont>
      <a:minorFont>
        <a:latin typeface="Franklin Gothic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4</Words>
  <Application>Microsoft Office PowerPoint</Application>
  <PresentationFormat>Экран (4:3)</PresentationFormat>
  <Paragraphs>4</Paragraphs>
  <Slides>4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mfua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Mihaiylova.Y</dc:creator>
  <cp:lastModifiedBy>User</cp:lastModifiedBy>
  <cp:revision>29</cp:revision>
  <dcterms:created xsi:type="dcterms:W3CDTF">2014-06-06T11:46:34Z</dcterms:created>
  <dcterms:modified xsi:type="dcterms:W3CDTF">2020-05-25T14:36:08Z</dcterms:modified>
</cp:coreProperties>
</file>