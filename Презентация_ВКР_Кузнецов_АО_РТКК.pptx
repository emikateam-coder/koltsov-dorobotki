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256" r:id="rId5"/>
    <p:sldId id="257" r:id="rId4"/>
    <p:sldId id="258" r:id="rId3"/>
    <p:sldId id="259" r:id="rId2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5AF"/>
    <a:srgbClr val="2E4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18" d="100"/>
          <a:sy n="118" d="100"/>
        </p:scale>
        <p:origin x="-14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19895" cy="11989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006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266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25.05.2020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 sz="2800">
                <a:solidFill>
                  <a:srgbClr val="1F3A68"/>
                </a:solidFill>
              </a:rPr>
              <a:t>Выбор технологии размещения и выкладки товаров в торговом зале (на материалах АО «РТКК»)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1"/>
              <a:t>Выпускная квалификационная работа</a:t>
            </a:r>
          </a:p>
          <a:p>
            <a:pPr algn="ctr"/>
            <a:r>
              <a:rPr sz="1200" b="0"/>
              <a:t/>
            </a:r>
          </a:p>
          <a:p>
            <a:pPr algn="ctr"/>
            <a:r>
              <a:rPr sz="1400" b="0"/>
              <a:t>Образовательная организация: Московский финансово-юридический университет МФЮА</a:t>
            </a:r>
          </a:p>
          <a:p>
            <a:pPr algn="ctr"/>
            <a:r>
              <a:rPr sz="1400" b="0"/>
              <a:t>Студент: Кузнецов А. А.</a:t>
            </a:r>
          </a:p>
          <a:p>
            <a:pPr algn="ctr"/>
            <a:r>
              <a:rPr sz="1400" b="0"/>
              <a:t>Научный руководитель: ____________________</a:t>
            </a:r>
          </a:p>
          <a:p>
            <a:pPr algn="ctr"/>
            <a:r>
              <a:rPr sz="1200" b="0"/>
              <a:t/>
            </a:r>
          </a:p>
          <a:p>
            <a:pPr algn="ctr"/>
            <a:r>
              <a:rPr sz="1400" b="0"/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Актуальность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Актуальность: рост конкуренции в специализированной непродовольственной рознице, переход к гибридной клиентоориентированной выкладке и приоритет отечественной офисной и компьютерной техники (Постановление Правительства РФ № 719, № 925)</a:t>
            </a:r>
          </a:p>
          <a:p>
            <a:pPr/>
            <a:r>
              <a:rPr sz="1600"/>
              <a:t>Объект: АО «Радиокомплект-Компьютер» (АО «РТКК»), г. Москва, ИНН 7713241629, ОГРН 1027700288054 — оптовый поставщик офисной и компьютерной техники</a:t>
            </a:r>
          </a:p>
          <a:p>
            <a:pPr/>
            <a:r>
              <a:rPr sz="1600"/>
              <a:t>Предмет: технологии размещения и выкладки товаров в торговом зале применительно к деятельности АО «РТКК»</a:t>
            </a:r>
          </a:p>
          <a:p>
            <a:pPr/>
            <a:r>
              <a:rPr sz="1600"/>
              <a:t>Цель: обосновать выбор технологии размещения и выкладки товаров для пилотного розничного магазина при оптовом складе и доказать её экономическую целесообразность в первый год работы</a:t>
            </a:r>
          </a:p>
          <a:p>
            <a:pPr/>
            <a:r>
              <a:rPr sz="1600"/>
              <a:t>Задачи:</a:t>
            </a:r>
          </a:p>
          <a:p>
            <a:pPr lvl="1"/>
            <a:r>
              <a:rPr sz="1600"/>
              <a:t>раскрыть сущность мерчандайзинга и классификацию технологий размещения и выкладки;</a:t>
            </a:r>
          </a:p>
          <a:p>
            <a:pPr lvl="1"/>
            <a:r>
              <a:rPr sz="1600"/>
              <a:t>дать организационно-экономическую характеристику АО «РТКК» и оценить действующую систему выкладки;</a:t>
            </a:r>
          </a:p>
          <a:p>
            <a:pPr lvl="1"/>
            <a:r>
              <a:rPr sz="1600"/>
              <a:t>разработать гибридную клиентоориентированную технологию выкладки и обосновать её экономическую эффективность.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Общая характеристика АО «РТКК»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АО «Радиокомплект-Компьютер» (АО «РТКК») — непубличное акционерное общество, дата первичной регистрации 04.02.2000</a:t>
            </a:r>
          </a:p>
          <a:p>
            <a:pPr/>
            <a:r>
              <a:rPr sz="1600"/>
              <a:t>Юридический и фактический адрес: 111250, г. Москва, ул. Лефортовский Вал, д. 24</a:t>
            </a:r>
          </a:p>
          <a:p>
            <a:pPr/>
            <a:r>
              <a:rPr sz="1600"/>
              <a:t>Основной ОКВЭД 46.66 — «Торговля оптовая прочей офисной техникой и оборудованием»</a:t>
            </a:r>
          </a:p>
          <a:p>
            <a:pPr/>
            <a:r>
              <a:rPr sz="1600"/>
              <a:t>Налоговый режим: общая система налогообложения, плательщик НДС</a:t>
            </a:r>
          </a:p>
          <a:p>
            <a:pPr/>
            <a:r>
              <a:rPr sz="1600"/>
              <a:t>Среднесписочная численность: 6 чел. (2023) → 8 чел. (2024) → 11 чел. (2025)</a:t>
            </a:r>
          </a:p>
          <a:p>
            <a:pPr/>
            <a:r>
              <a:rPr sz="1600"/>
              <a:t>Действующий торговый зал премиального обслуживания — 180 м² в помещении подвального этажа</a:t>
            </a:r>
          </a:p>
          <a:p>
            <a:pPr/>
            <a:r>
              <a:rPr sz="1600"/>
              <a:t>Основные клиенты: бюджетные учреждения культуры, образования, здравоохранения по 44-ФЗ и 223-ФЗ; ключевой заказчик — Театральный институт имени Б. Щукина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Ключевые факты об организации (2025 г.)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Выручка 2025 года — 149 588 тыс. руб., рост к 2024 году +37,7 %</a:t>
            </a:r>
          </a:p>
          <a:p>
            <a:pPr/>
            <a:r>
              <a:rPr sz="1600"/>
              <a:t>Чистая прибыль 2025 года — 5 148 тыс. руб.; рентабельность собственного капитала — 36,63 %</a:t>
            </a:r>
          </a:p>
          <a:p>
            <a:pPr/>
            <a:r>
              <a:rPr sz="1600"/>
              <a:t>Доля отечественной продукции в выручке выросла с 38 % (2023) до 57 % (2025)</a:t>
            </a:r>
          </a:p>
          <a:p>
            <a:pPr/>
            <a:r>
              <a:rPr sz="1600"/>
              <a:t>60 % выручки — государственные и муниципальные заказчики (44-ФЗ, 223-ФЗ); 35 % — корпоративные; 5 % — посредники</a:t>
            </a:r>
          </a:p>
          <a:p>
            <a:pPr/>
            <a:r>
              <a:rPr sz="1600"/>
              <a:t>Участие в 35 закупочных процедурах ЕИС, 19 выигранных, 3 действующих контракта (на 27.05.2026)</a:t>
            </a:r>
          </a:p>
          <a:p>
            <a:pPr/>
            <a:r>
              <a:rPr sz="1600"/>
              <a:t>География — г. Москва и Московская область; деятельность ведётся 26 лет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620000"/>
          <a:ext cx="522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000"/>
                <a:gridCol w="1305000"/>
                <a:gridCol w="1305000"/>
                <a:gridCol w="1305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Показатель, 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Выручка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78 200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108 606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149 588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Расходы по обычной деятельности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(74 250)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(101 391)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(142 893)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Чистая прибыль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3 950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5 663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5 148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Валюта баланса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10 841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20 555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39 635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Капитал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5 885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9 747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18 363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Запасы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6 846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11 095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13 940</a:t>
                      </a:r>
                    </a:p>
                  </a:txBody>
                  <a:tcPr marL="36000" marR="36000" marT="18000" marB="18000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/>
                        <a:t>Дебиторская задолженность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3 451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9 248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24 124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80000" y="1620000"/>
            <a:ext cx="3311999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/>
              <a:t>Ключевые коэффициенты 2025 г.
• Текущая ликвидность — 2,02
• Коэффициент автономии — 0,463
• Рентабельность собств. капитала — 36,63 %
• Оборачиваемость запасов — 11,42 об./год
• Период оборота запасов — ≈32 дн.
• Период оборота дебиторки — ≈41 дн.
Вывод: устойчивый рост выручки (+91 % за 2 года), финансовая независимость на нормативном уровне, высокая рентабельность капитала.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148000"/>
            <a:ext cx="84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Источник: данные ГИР БО ФНС России (форма КНД 0710096); табл. 3 и 4 ВКР.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Анализ показателей деятельности. Часть 2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620000"/>
            <a:ext cx="4500000" cy="370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88000" y="1584000"/>
            <a:ext cx="41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3A68"/>
                </a:solidFill>
              </a:rPr>
              <a:t>Эффективность торгового зала, 2023–2025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88000" y="1872000"/>
          <a:ext cx="4176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/>
                <a:gridCol w="1044000"/>
                <a:gridCol w="1044000"/>
                <a:gridCol w="104400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/>
                        <a:t>Выручка / м² демо-зоны, тыс. руб./год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1 042,7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1 448,1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1 994,5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/>
                        <a:t>Средний чек, тыс. руб.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312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348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387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/>
                        <a:t>Конверсия «посетитель→договор»,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41,0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46,5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49,3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/>
                        <a:t>Доля повторных заказов,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46</a:t>
                      </a:r>
                    </a:p>
                  </a:txBody>
                  <a:tcPr marL="36000" marR="36000" marT="18000" marB="18000"/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00"/>
                        <a:t>Доля отечественной продукции,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48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57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0000" y="5508000"/>
            <a:ext cx="88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/>
              <a:t>Вывод. Группа A (офисная техника, компьютерная техника и периферия) обеспечивает 50 % выручки. Активная демонстрация даёт +7 п. п. к доле заключённых договоров. Резервы роста — функционально-целевое зонирование, цифровая выкладка, охват частных клиентов и МСП.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SWOT-анализ АО «РТКК» (2025 г.)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620000"/>
          <a:ext cx="853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000"/>
                <a:gridCol w="4266000"/>
              </a:tblGrid>
              <a:tr h="91799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Сильные стороны (S)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Слабые стороны (W)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17999">
                <a:tc>
                  <a:txBody>
                    <a:bodyPr wrap="square"/>
                    <a:lstStyle/>
                    <a:p>
                      <a:r>
                        <a:rPr sz="1100"/>
                        <a:t>• 26 лет на рынке
• Устойчивая положительная финансовая динамика
• Опыт работы по 44-ФЗ / 223-ФЗ
• Низкие судебные и исполнительные риски
• Рентабельность капитала 36,63 %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• Узкая ассортиментная матрица в рознице
• Отсутствие розничных кодов ОКВЭД
• Концентрация выручки на крупных бюджетных заказчиках
• Ограниченная цифровизация выкладки</a:t>
                      </a:r>
                    </a:p>
                  </a:txBody>
                  <a:tcPr marL="36000" marR="36000" marT="18000" marB="18000"/>
                </a:tc>
              </a:tr>
              <a:tr h="91799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Возможности (O)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Угрозы (T)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918002">
                <a:tc>
                  <a:txBody>
                    <a:bodyPr wrap="square"/>
                    <a:lstStyle/>
                    <a:p>
                      <a:r>
                        <a:rPr sz="1100"/>
                        <a:t>• Открытие розничного канала при оптовом складе
• Перепланировка действующего торгового зала
• Программы импортозамещения (ПП РФ № 719)
• Подключение к Системе быстрых платежей и СБИС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100"/>
                        <a:t>• Сезонность государственных закупок
• Конкуренция системных интеграторов
• Маркетплейсы — давление на расходные материалы и малогабаритную офисную технику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8000" y="5400000"/>
            <a:ext cx="853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/>
              <a:t>Итог: совокупность сильных сторон и возможностей создаёт ресурсную базу для запуска розничного канала с гибридной клиентоориентированной выкладкой; слабые стороны устранимы организационно-правовыми мерами, угрозы — выбором формата и места размещения пилотного магазина.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Мероприятия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Внедрить гибридную клиентоориентированную технологию выкладки (4 контура): функционально-целевое зонирование, активная демонстрация, цифровая выкладка, маркировка отечественного происхождения</a:t>
            </a:r>
          </a:p>
          <a:p>
            <a:pPr/>
            <a:r>
              <a:rPr sz="1500"/>
              <a:t>Запустить пилотный розничный магазин (180 м² торгового зала) при оптовом складе в Юго-Восточном АО г. Москвы — 10-этапный проект сроком 9 месяцев (диаграмма Ганта, прил. Е ВКР)</a:t>
            </a:r>
          </a:p>
          <a:p>
            <a:pPr/>
            <a:r>
              <a:rPr sz="1500"/>
              <a:t>Расширить перечень ОКВЭД на 4 розничных кода: 47.41, 47.43, 47.78, 47.91; подключиться к СБП Банка России и ГИС «Честный знак»</a:t>
            </a:r>
          </a:p>
          <a:p>
            <a:pPr/>
            <a:r>
              <a:rPr sz="1500"/>
              <a:t>Перепланировать действующий торговый зал премиального обслуживания: выделить 4 функциональные зоны (офисный сотрудник, учебная аудитория, малый бизнес, домашний кабинет) и зону отечественной продукции</a:t>
            </a:r>
          </a:p>
          <a:p>
            <a:pPr/>
            <a:r>
              <a:rPr sz="1500"/>
              <a:t>Внедрить «1С: Розница 8» с модулем планограмм, электронные ценники (700 шт.), интерактивные демо-стенды и систему «СуперМаг Vision»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Экономическая эффективность (1-й год работы)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620000"/>
          <a:ext cx="4140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000"/>
                <a:gridCol w="2070000"/>
              </a:tblGrid>
              <a:tr h="414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Капитальные затраты (CapEx)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Ремонтно-отделочные работы (180 м² × 12 000 руб./м²)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2 160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Торговое оборудование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1 350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ККТ, эквайринг, ОФД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280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Электронные ценники (700 шт. × 1 600 руб.)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1 120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Интерактивные демо-стенды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920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«1С: Розница 8» с модулем планограмм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180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Системы безопасности (видео, ОПС, противокражная)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620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Стартовый товарный запас (≈22 000 руб./м²)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3 960</a:t>
                      </a:r>
                    </a:p>
                  </a:txBody>
                  <a:tcPr marL="36000" marR="36000" marT="18000" marB="18000"/>
                </a:tc>
              </a:tr>
              <a:tr h="414000">
                <a:tc>
                  <a:txBody>
                    <a:bodyPr wrap="square"/>
                    <a:lstStyle/>
                    <a:p>
                      <a:r>
                        <a:rPr sz="1000"/>
                        <a:t>Итого CapEx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10 590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80000" y="1620000"/>
          <a:ext cx="4212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000"/>
                <a:gridCol w="2106000"/>
              </a:tblGrid>
              <a:tr h="337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Операционные затраты (OpEx)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год, 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Аренда (250 м² × 2 160 руб./м²)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6 480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ФОТ с отчислениями (4 ст. + сервисный 0,5)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5 304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Коммунальные услуги и связь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720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Маркетинг и продвижение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1 080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Расходные материалы и обслуживание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420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Прочие операционные затраты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 marL="36000" marR="36000" marT="18000" marB="18000"/>
                </a:tc>
              </a:tr>
              <a:tr h="337500">
                <a:tc>
                  <a:txBody>
                    <a:bodyPr wrap="square"/>
                    <a:lstStyle/>
                    <a:p>
                      <a:r>
                        <a:rPr sz="1000"/>
                        <a:t>Итого OpEx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14 304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80000" y="4428000"/>
          <a:ext cx="4212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000"/>
                <a:gridCol w="2106000"/>
              </a:tblGrid>
              <a:tr h="259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Итоговые показатели 1-го года, тыс. руб.</a:t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36000" marR="36000" marT="18000" marB="18000">
                    <a:solidFill>
                      <a:srgbClr val="1F3A6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r>
                        <a:rPr sz="1000"/>
                        <a:t>Прогнозная выручка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22 800</a:t>
                      </a:r>
                    </a:p>
                  </a:txBody>
                  <a:tcPr marL="36000" marR="36000" marT="18000" marB="18000"/>
                </a:tc>
              </a:tr>
              <a:tr h="259200">
                <a:tc>
                  <a:txBody>
                    <a:bodyPr wrap="square"/>
                    <a:lstStyle/>
                    <a:p>
                      <a:r>
                        <a:rPr sz="1000"/>
                        <a:t>Валовая маржа (32 % от выручки)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7 296</a:t>
                      </a:r>
                    </a:p>
                  </a:txBody>
                  <a:tcPr marL="36000" marR="36000" marT="18000" marB="18000"/>
                </a:tc>
              </a:tr>
              <a:tr h="259200">
                <a:tc>
                  <a:txBody>
                    <a:bodyPr wrap="square"/>
                    <a:lstStyle/>
                    <a:p>
                      <a:r>
                        <a:rPr sz="1000"/>
                        <a:t>Операционная прибыль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−7 008</a:t>
                      </a:r>
                    </a:p>
                  </a:txBody>
                  <a:tcPr marL="36000" marR="36000" marT="18000" marB="18000"/>
                </a:tc>
              </a:tr>
              <a:tr h="259200">
                <a:tc>
                  <a:txBody>
                    <a:bodyPr wrap="square"/>
                    <a:lstStyle/>
                    <a:p>
                      <a:r>
                        <a:rPr sz="1000"/>
                        <a:t>Точка безубыточности (год)</a:t>
                      </a:r>
                    </a:p>
                  </a:txBody>
                  <a:tcPr marL="36000" marR="36000" marT="18000" marB="18000"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34 670</a:t>
                      </a:r>
                    </a:p>
                  </a:txBody>
                  <a:tcPr marL="36000" marR="36000" marT="18000" marB="180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88000" y="5868000"/>
            <a:ext cx="860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/>
              <a:t>Вывод: убыток 1-го года — плановая инвестиционная фаза. Гибридная выкладка даёт +25–35 % к конверсии и среднему чеку; синергия с оптовым каналом ≈+6 % к выручке. Безубыточность — 3-й — начало 4-го года.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9600" cy="731520"/>
          </a:xfrm>
        </p:spPr>
        <p:txBody>
          <a:bodyPr/>
          <a:lstStyle/>
          <a:p>
            <a:pPr algn="l"/>
            <a:r>
              <a:rPr b="1" sz="2200">
                <a:solidFill>
                  <a:srgbClr val="1F3A68"/>
                </a:solidFill>
              </a:rP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Цель ВКР достигнута: обоснован выбор гибридной клиентоориентированной технологии выкладки для пилотного розничного магазина АО «РТКК» и доказана её экономическая целесообразность</a:t>
            </a:r>
          </a:p>
          <a:p>
            <a:pPr/>
            <a:r>
              <a:rPr sz="1400"/>
              <a:t>Проведён комплексный анализ деятельности АО «РТКК»: предприятие финансово устойчиво, выручка выросла на 91 % за 2023–2025 гг., доля отечественной продукции — до 57 %</a:t>
            </a:r>
          </a:p>
          <a:p>
            <a:pPr/>
            <a:r>
              <a:rPr sz="1400"/>
              <a:t>Выявлены 5 узких мест действующей выкладки и предложены меры по их устранению: перепланировка зала, функциональное зонирование, цифровая выкладка, маркировка отечественной продукции</a:t>
            </a:r>
          </a:p>
          <a:p>
            <a:pPr/>
            <a:r>
              <a:rPr sz="1400"/>
              <a:t>Разработан 10-этапный проект пилотного магазина: CapEx 10 590 тыс. руб., OpEx 14 304 тыс. руб./год, прогноз выручки 22 800 тыс. руб., валовая маржа 7 296 тыс. руб. (32 %)</a:t>
            </a:r>
          </a:p>
          <a:p>
            <a:pPr/>
            <a:r>
              <a:rPr sz="1400"/>
              <a:t>Результаты применимы для запуска розничного канала АО «РТКК» и аналогичных оптовых поставщиков офисной и компьютерной техники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652000"/>
            <a:ext cx="88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1A2E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4</Words>
  <Application>Microsoft Office PowerPoint</Application>
  <PresentationFormat>Экран (4:3)</PresentationFormat>
  <Paragraphs>4</Paragraphs>
  <Slides>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mfua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User</cp:lastModifiedBy>
  <cp:revision>29</cp:revision>
  <dcterms:created xsi:type="dcterms:W3CDTF">2014-06-06T11:46:34Z</dcterms:created>
  <dcterms:modified xsi:type="dcterms:W3CDTF">2020-05-25T14:36:08Z</dcterms:modified>
</cp:coreProperties>
</file>