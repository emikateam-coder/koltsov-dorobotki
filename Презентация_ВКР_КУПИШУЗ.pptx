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handoutMasterIdLst>
    <p:handoutMasterId r:id="rId7"/>
  </p:handoutMasterIdLst>
  <p:sldIdLst>
    <p:sldId id="256" r:id="rId5"/>
    <p:sldId id="257" r:id="rId4"/>
    <p:sldId id="258" r:id="rId3"/>
    <p:sldId id="259" r:id="rId2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5AF"/>
    <a:srgbClr val="2E46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>
        <p:scale>
          <a:sx n="118" d="100"/>
          <a:sy n="118" d="100"/>
        </p:scale>
        <p:origin x="-148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119895" cy="11989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EC4E2-312E-40CA-BB73-669C39065786}" type="datetimeFigureOut">
              <a:rPr lang="ru-RU" smtClean="0"/>
              <a:pPr/>
              <a:t>25.05.2020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6B20-E780-4CC1-ADA5-D4276F431C2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0068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82F07-21A8-452B-830F-6F275006A33E}" type="datetimeFigureOut">
              <a:rPr lang="ru-RU" smtClean="0"/>
              <a:pPr/>
              <a:t>25.05.2020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2CC7F-4B8F-4971-B02C-4E99B9754D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0266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23D1-D7DC-4591-8B16-454534D8710C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2DAA-37A7-4574-9524-5D7BADAEC38D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C9B3-8FFD-42E5-B7EB-F0940352A9D4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A867B-E5FE-4FC4-865B-32A2D9C963E5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9ADF-A8B4-4D2F-917B-437CC9B9A1C8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6561-EB4D-4AD2-8019-9E2996AD71FD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F0B72-E5A1-44E1-A9DB-C9806E27F32C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199-4694-42D0-8B18-C4941EBE0C8D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8FB2B-9458-442D-9586-942FF85D3874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026C-C2E1-4D4B-B1B4-784E50A3B18B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F9B1-6C1D-4F32-95AA-811C294F742E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55F98-5148-4E11-98BB-6DE8AF8901CE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b="1" sz="2600">
                <a:solidFill>
                  <a:srgbClr val="1F3A68"/>
                </a:solidFill>
              </a:rPr>
              <a:t>Разработка бизнес-плана по производству товара (на материалах ООО «КУПИШУЗ»)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b="1"/>
              <a:t>Выпускная квалификационная работа</a:t>
            </a:r>
          </a:p>
          <a:p>
            <a:pPr algn="ctr"/>
            <a:r>
              <a:rPr sz="1000" b="0"/>
              <a:t/>
            </a:r>
          </a:p>
          <a:p>
            <a:pPr algn="ctr"/>
            <a:r>
              <a:rPr sz="1300" b="0"/>
              <a:t>Образовательная организация: Московский финансово-юридический университет МФЮА</a:t>
            </a:r>
          </a:p>
          <a:p>
            <a:pPr algn="ctr"/>
            <a:r>
              <a:rPr sz="1300" b="0"/>
              <a:t>Студент: __________________________</a:t>
            </a:r>
          </a:p>
          <a:p>
            <a:pPr algn="ctr"/>
            <a:r>
              <a:rPr sz="1300" b="0"/>
              <a:t>Научный руководитель: ____________________</a:t>
            </a:r>
          </a:p>
          <a:p>
            <a:pPr algn="ctr"/>
            <a:r>
              <a:rPr sz="1000" b="0"/>
              <a:t/>
            </a:r>
          </a:p>
          <a:p>
            <a:pPr algn="ctr"/>
            <a:r>
              <a:rPr sz="1300" b="0"/>
              <a:t>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Актуальность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Актуальность: структурная перестройка экономики, импортозамещение, уход иностранных торговых марок (2022–2024 гг.) и развитие электронной торговли формируют устойчивый спрос на бизнес-планы запуска собственных производственных линий в составе крупных розничных операторов</a:t>
            </a:r>
          </a:p>
          <a:p>
            <a:pPr/>
            <a:r>
              <a:rPr sz="1400"/>
              <a:t>Объект: финансово-хозяйственная деятельность ООО «КУПИШУЗ» (ИНН 7705935687, г. Москва) — третий по обороту оператор торговой интернет-площадки сегмента модной одежды и обуви</a:t>
            </a:r>
          </a:p>
          <a:p>
            <a:pPr/>
            <a:r>
              <a:rPr sz="1400"/>
              <a:t>Предмет: совокупность теоретических, методических и практических положений разработки бизнес-плана производства товара в условиях действующего торгового предприятия</a:t>
            </a:r>
          </a:p>
          <a:p>
            <a:pPr/>
            <a:r>
              <a:rPr sz="1400"/>
              <a:t>Цель: разработать экономически обоснованный бизнес-план производства собственной торговой марки обуви для ООО «КУПИШУЗ» и оценить целесообразность его реализации</a:t>
            </a:r>
          </a:p>
          <a:p>
            <a:pPr/>
            <a:r>
              <a:rPr sz="1400"/>
              <a:t>Задачи:</a:t>
            </a:r>
          </a:p>
          <a:p>
            <a:pPr lvl="1"/>
            <a:r>
              <a:rPr sz="1400"/>
              <a:t>раскрыть теоретические основы бизнес-планирования и сравнить методические стандарты (ОНПР, ЕБРР, Минэкономразвития);</a:t>
            </a:r>
          </a:p>
          <a:p>
            <a:pPr lvl="1"/>
            <a:r>
              <a:rPr sz="1400"/>
              <a:t>дать организационно-экономическую характеристику ООО «КУПИШУЗ» и провести SWOT- и PEST-анализ;</a:t>
            </a:r>
          </a:p>
          <a:p>
            <a:pPr lvl="1"/>
            <a:r>
              <a:rPr sz="1400"/>
              <a:t>разработать бизнес-план запуска торговой марки «Тропа» и оценить его коммерческую эффективность.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Общая характеристика ООО «КУПИШУЗ»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/>
              <a:t>ООО «КУПИШУЗ» — общество с ограниченной ответственностью, дата регистрации 09.12.2010, ОГРН 5107746007628, ИНН 7705935687</a:t>
            </a:r>
          </a:p>
          <a:p>
            <a:pPr/>
            <a:r>
              <a:rPr sz="1300"/>
              <a:t>Юридический адрес: 121614, г. Москва, ул. Крылатская, д. 15. Единственный участник — АО «ЛМ Холдинг» (100 %)</a:t>
            </a:r>
          </a:p>
          <a:p>
            <a:pPr/>
            <a:r>
              <a:rPr sz="1300"/>
              <a:t>Гендиректор — Гришаков М. П. (с 14.07.2023). Уставный капитал — 10 000 руб.</a:t>
            </a:r>
          </a:p>
          <a:p>
            <a:pPr/>
            <a:r>
              <a:rPr sz="1300"/>
              <a:t>Основной ОКВЭД 46.16 — оптовая торговля одеждой, обувью и изделиями из кожи; +70 дополнительных кодов (47.71, 47.72, 47.91 и др.)</a:t>
            </a:r>
          </a:p>
          <a:p>
            <a:pPr/>
            <a:r>
              <a:rPr sz="1300"/>
              <a:t>Бизнес-модель — объединённая торговая интернет-площадка с полным циклом дистанционных продаж: 4 функциональных блока (коммерческий, цифровой, операционный, административно-финансовый)</a:t>
            </a:r>
          </a:p>
          <a:p>
            <a:pPr/>
            <a:r>
              <a:rPr sz="1300"/>
              <a:t>Каналы сбыта: собственная интернет-площадка, мобильное приложение, партнёрские интернет-площадки; собственная служба доставки и сеть постаматов в крупных городах РФ</a:t>
            </a:r>
          </a:p>
          <a:p>
            <a:pPr/>
            <a:r>
              <a:rPr sz="1300"/>
              <a:t>Третье место в подотрасли по объёму годовой выручки среди крупнейших операторов сегмента модной одежды и обуви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Ключевые факты об организации (2025 г.)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/>
              <a:t>Выручка 2025 года — 117 622 млн руб. (≈ 117,6 млрд руб.); среднегодовой темп прироста 2023–2025 гг. — 18,9 % (существенно выше темпа инфляции 8,5 %)</a:t>
            </a:r>
          </a:p>
          <a:p>
            <a:pPr/>
            <a:r>
              <a:rPr sz="1300"/>
              <a:t>Чистая прибыль 2025 года — 2 304 млн руб. с приростом к 2024 году +18,3 %; рост за 2 года в 2 раза (с 1 165 млн руб.)</a:t>
            </a:r>
          </a:p>
          <a:p>
            <a:pPr/>
            <a:r>
              <a:rPr sz="1300"/>
              <a:t>Валовая маржа: 15,4 % → 17,0 % (рост за счёт собственных торговых марок и эксклюзивных контрактов)</a:t>
            </a:r>
          </a:p>
          <a:p>
            <a:pPr/>
            <a:r>
              <a:rPr sz="1300"/>
              <a:t>Рентабельность собственного капитала — 83,2 % (с 45,9 % в 2023 году) за счёт эффекта финансового рычага</a:t>
            </a:r>
          </a:p>
          <a:p>
            <a:pPr/>
            <a:r>
              <a:rPr sz="1300"/>
              <a:t>Численность — несколько тысяч человек; ассортимент — несколько сотен тысяч SKU; широкая клиентская база и развитая логистическая инфраструктура</a:t>
            </a:r>
          </a:p>
          <a:p>
            <a:pPr/>
            <a:r>
              <a:rPr sz="1300"/>
              <a:t>Объект бизнес-планирования — запуск собственной торговой марки обуви «Тропа»: 90 → 240 ассортиментных позиций, 70 → 300 тыс. пар в год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Анализ показателей деятельности. Часть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1548000"/>
          <a:ext cx="54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000"/>
                <a:gridCol w="1350000"/>
                <a:gridCol w="1350000"/>
                <a:gridCol w="135000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Показатель, млн руб.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100" b="1"/>
                        <a:t>Выручка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82 941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107 236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117 622</a:t>
                      </a:r>
                    </a:p>
                  </a:txBody>
                  <a:tcPr marL="36000" marR="36000" marT="18000" marB="18000"/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100" b="1"/>
                        <a:t>Себестоимость продаж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70 165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89 822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97 580</a:t>
                      </a:r>
                    </a:p>
                  </a:txBody>
                  <a:tcPr marL="36000" marR="36000" marT="18000" marB="18000"/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100" b="1"/>
                        <a:t>Валовая прибыль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12 776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17 414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20 042</a:t>
                      </a:r>
                    </a:p>
                  </a:txBody>
                  <a:tcPr marL="36000" marR="36000" marT="18000" marB="18000"/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100" b="1"/>
                        <a:t>Прибыль от продаж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1 946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2 769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3 227</a:t>
                      </a:r>
                    </a:p>
                  </a:txBody>
                  <a:tcPr marL="36000" marR="36000" marT="18000" marB="18000"/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100" b="1"/>
                        <a:t>Чистая прибыль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1 165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1 947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2 304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52000" y="1548000"/>
          <a:ext cx="3240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38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Коэффициент (2025 г.)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Знач.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Норма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000" b="1"/>
                        <a:t>Текущая ликвидность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1,42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≥ 1,5</a:t>
                      </a:r>
                    </a:p>
                  </a:txBody>
                  <a:tcPr marL="36000" marR="36000" marT="18000" marB="18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000" b="1"/>
                        <a:t>Быстрая ликвидность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0,78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≥ 0,8</a:t>
                      </a:r>
                    </a:p>
                  </a:txBody>
                  <a:tcPr marL="36000" marR="36000" marT="18000" marB="18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000" b="1"/>
                        <a:t>Абсолютная ликвидность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0,25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≥ 0,2</a:t>
                      </a:r>
                    </a:p>
                  </a:txBody>
                  <a:tcPr marL="36000" marR="36000" marT="18000" marB="18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000" b="1"/>
                        <a:t>Автономия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0,32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≥ 0,5</a:t>
                      </a:r>
                    </a:p>
                  </a:txBody>
                  <a:tcPr marL="36000" marR="36000" marT="18000" marB="18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000" b="1"/>
                        <a:t>Финансовая устойчивость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0,44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≥ 0,7</a:t>
                      </a:r>
                    </a:p>
                  </a:txBody>
                  <a:tcPr marL="36000" marR="36000" marT="18000" marB="18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000" b="1"/>
                        <a:t>Рентабельность продаж, %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1,96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 marL="36000" marR="36000" marT="18000" marB="18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000" b="1"/>
                        <a:t>Рентабельность активов, %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26,7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 marL="36000" marR="36000" marT="18000" marB="18000"/>
                </a:tc>
              </a:tr>
              <a:tr h="380000">
                <a:tc>
                  <a:txBody>
                    <a:bodyPr wrap="square"/>
                    <a:lstStyle/>
                    <a:p>
                      <a:r>
                        <a:rPr sz="1000" b="1"/>
                        <a:t>ROE, %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83,2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0000" y="4176000"/>
            <a:ext cx="54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Вывод. Устойчивая положительная динамика: среднегодовой темп прироста выручки 18,9 % выше инфляции (8,5 %); валовая маржа выросла с 15,4 до 17,0 % за счёт собственных торговых марок. Рост ROE с 45,9 до 83,2 % — эффект финансового рычага. Ликвидность ниже нормы, но компенсируется высокой оборачиваемостью.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652000"/>
            <a:ext cx="87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/>
              <a:t>Источник: бухгалтерская (финансовая) отчётность ООО «КУПИШУЗ» за 2023–2025 гг.; табл. 2 и 4 ВКР.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Анализ показателей деятельности. Часть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1548000"/>
          <a:ext cx="468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000"/>
                <a:gridCol w="1560000"/>
                <a:gridCol w="1560000"/>
              </a:tblGrid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Раздел баланса (на 31.12.2025)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млн руб.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I. Внеоборотные активы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1 845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20,5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II. Оборотные активы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7 155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79,5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    в т. ч. запасы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3 220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35,8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    в т. ч. дебиторская задолженность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2 540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28,2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    в т. ч. денежные средства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1 235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13,7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Итого активы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9 000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100,0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III. Капитал и резервы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2 880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32,0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IV. Долгосрочные обязательства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1 080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12,0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00" b="1"/>
                        <a:t>V. Краткосрочные обязательства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5 040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56,0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968000" y="1548000"/>
          <a:ext cx="396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1320000"/>
                <a:gridCol w="1320000"/>
              </a:tblGrid>
              <a:tr h="396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Структура рынка обуви РФ, 2025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Доля, %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Темп, %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r>
                        <a:rPr sz="1000" b="1"/>
                        <a:t>Премиальный (&gt;12 000 руб./пара)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11,2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+3,8</a:t>
                      </a:r>
                    </a:p>
                  </a:txBody>
                  <a:tcPr marL="36000" marR="36000" marT="18000" marB="18000"/>
                </a:tc>
              </a:tr>
              <a:tr h="396000">
                <a:tc>
                  <a:txBody>
                    <a:bodyPr wrap="square"/>
                    <a:lstStyle/>
                    <a:p>
                      <a:r>
                        <a:rPr sz="1000" b="1"/>
                        <a:t>Средний плюс (6–12 тыс. руб.)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23,5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+7,2</a:t>
                      </a:r>
                    </a:p>
                  </a:txBody>
                  <a:tcPr marL="36000" marR="36000" marT="18000" marB="18000"/>
                </a:tc>
              </a:tr>
              <a:tr h="396000">
                <a:tc>
                  <a:txBody>
                    <a:bodyPr wrap="square"/>
                    <a:lstStyle/>
                    <a:p>
                      <a:r>
                        <a:rPr sz="1000" b="1"/>
                        <a:t>Средний (3–6 тыс. руб.) — целевой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38,4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+9,5</a:t>
                      </a:r>
                    </a:p>
                  </a:txBody>
                  <a:tcPr marL="36000" marR="36000" marT="18000" marB="18000"/>
                </a:tc>
              </a:tr>
              <a:tr h="396000">
                <a:tc>
                  <a:txBody>
                    <a:bodyPr wrap="square"/>
                    <a:lstStyle/>
                    <a:p>
                      <a:r>
                        <a:rPr sz="1000" b="1"/>
                        <a:t>Эконом (&lt;3 тыс. руб.)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26,9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+5,1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68000" y="3600000"/>
            <a:ext cx="39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Уход иностранных брендов в 2022–2024 гг. освободил 18–22 % ёмкости сегмента «средний». Доля цифровых каналов выросла с 18 до 41 % за 5 лет — это благоприятная среда для запуска собственной торговой марки в составе действующего онлайн-ритейлера.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5400000"/>
            <a:ext cx="87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Вывод: преобладание оборотных активов (79,5 %) и значительная доля запасов (35,8 %) — типичная структура розничного бизнеса с высокой оборачиваемостью. Целевой сегмент «средний» — самый ёмкий (38,4 %) и один из наиболее быстрорастущих (+9,5 % в год).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SWOT-анализ ООО «КУПИШУЗ»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1548000"/>
          <a:ext cx="8712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6000"/>
                <a:gridCol w="4356000"/>
              </a:tblGrid>
              <a:tr h="945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Сильные стороны (S)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Слабые стороны (W)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945000">
                <a:tc>
                  <a:txBody>
                    <a:bodyPr wrap="square"/>
                    <a:lstStyle/>
                    <a:p>
                      <a:r>
                        <a:rPr sz="1000"/>
                        <a:t>• Сформированная клиентская база и узнаваемый бренд
• Развитая цифровая инфраструктура и собственная служба доставки
• Высокий темп роста выручки и рост рентабельности
• Доступ к большим массивам данных о покупателях
• Возможность тестирования новых SKU через действующие каналы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• Низкий коэффициент автономии (0,32) и зависимость от заёмных средств
• Отсутствие производственной экспертизы
• Высокая доля коммерческих расходов
• Сезонные колебания спроса и риск избыточных запасов
• Высокая операционная сложность ассортимента</a:t>
                      </a:r>
                    </a:p>
                  </a:txBody>
                  <a:tcPr marL="36000" marR="36000" marT="18000" marB="18000"/>
                </a:tc>
              </a:tr>
              <a:tr h="945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Возможности (O)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Угрозы (T)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945000">
                <a:tc>
                  <a:txBody>
                    <a:bodyPr wrap="square"/>
                    <a:lstStyle/>
                    <a:p>
                      <a:r>
                        <a:rPr sz="1000"/>
                        <a:t>• Импортозамещение и господдержка лёгкой промышленности (ФРП)
• Уход иностранных торговых марок — освобождение ниш
• Рост спроса на отечественные торговые марки у молодёжи
• Развитие премиальных собственных торговых марок
• Цифровое проектирование и быстрое прототипирование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• Высокая ключевая ставка и удорожание заёмного финансирования
• Волатильность валютного курса и удорожание импорта
• Рост стоимости трудовых ресурсов в швейной/обувной отрасли
• Конкуренция СТМ других торговых интернет-площадок
• Сокращение жизненного цикла продукта в fashion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0000" y="5400000"/>
            <a:ext cx="871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Итог: стратегия S–O — запуск собственного производственного направления по комбинированной модели: дизайн, маркетинг и сбыт — собственными силами; основные производственные операции — на договорной основе. Сильные стороны цифровой платформы компенсируют отсутствие производственной экспертизы.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Мероприятия и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Запустить собственную торговую марку обуви «Тропа» — женская и мужская обувь повседневного и повседневно-делового назначения в сегменте «средний» (4 900 руб. отпускная цена)</a:t>
            </a:r>
          </a:p>
          <a:p>
            <a:pPr/>
            <a:r>
              <a:rPr sz="1200"/>
              <a:t>Применить комбинированную модель производства: контрактное производство в Ростовской области (с резервным подрядчиком в соотношении 70:30) + собственный дизайн, контроль качества, маркетинг и сбыт</a:t>
            </a:r>
          </a:p>
          <a:p>
            <a:pPr/>
            <a:r>
              <a:rPr sz="1200"/>
              <a:t>Ассортиментная стратегия: 90 SKU в первый сезон → 240 SKU на 3-й год; обновление коллекций «весна—лето» и «осень—зима»</a:t>
            </a:r>
          </a:p>
          <a:p>
            <a:pPr/>
            <a:r>
              <a:rPr sz="1200"/>
              <a:t>Производственная программа: 70 → 160 → 250 → 280 → 300 тыс. пар в год; средневзвешенная себестоимость на 3-й год — 2 530 руб./пара; валовая маржа 48,4 %</a:t>
            </a:r>
          </a:p>
          <a:p>
            <a:pPr/>
            <a:r>
              <a:rPr sz="1200"/>
              <a:t>Каналы сбыта: 78 % — собственная интернет-площадка, 15 % — партнёрские маркетплейсы, 7 % — оптовые контракты. Маркетинг 1-го года — 9,5 % выручки</a:t>
            </a:r>
          </a:p>
          <a:p>
            <a:pPr/>
            <a:r>
              <a:rPr sz="1200"/>
              <a:t>Организационная структура: межфункциональная проектная команда из 19 человек (директор торговой марки, дизайнеры, технологи, менеджеры качества и закупок); ФОТ ≈ 50 млн руб./год с начислениями</a:t>
            </a:r>
          </a:p>
          <a:p>
            <a:pPr/>
            <a:r>
              <a:rPr sz="1200"/>
              <a:t>Привлечь льготное кредитование Фонда развития промышленности (ПП РФ № 109); зарегистрировать торговый знак «Тропа» в Роспатенте; подключить хеджирование валютной позиции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Экономическая эффективность проекта</a:t>
            </a:r>
          </a:p>
        </p:txBody>
      </p:sp>
      <p:pic>
        <p:nvPicPr>
          <p:cNvPr id="3" name="Picture 2" descr="chart_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440000"/>
            <a:ext cx="8856000" cy="311925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000" y="4896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</a:tblGrid>
              <a:tr h="16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Структура инвестиций (CapEx)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млн руб.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160000">
                <a:tc>
                  <a:txBody>
                    <a:bodyPr wrap="square"/>
                    <a:lstStyle/>
                    <a:p>
                      <a:r>
                        <a:rPr sz="900" b="1"/>
                        <a:t>Закупка оборудования и оснастки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130,0</a:t>
                      </a:r>
                    </a:p>
                  </a:txBody>
                  <a:tcPr marL="36000" marR="36000" marT="18000" marB="18000"/>
                </a:tc>
              </a:tr>
              <a:tr h="160000">
                <a:tc>
                  <a:txBody>
                    <a:bodyPr wrap="square"/>
                    <a:lstStyle/>
                    <a:p>
                      <a:r>
                        <a:rPr sz="900" b="1"/>
                        <a:t>Формирование первоначального запаса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95,0</a:t>
                      </a:r>
                    </a:p>
                  </a:txBody>
                  <a:tcPr marL="36000" marR="36000" marT="18000" marB="18000"/>
                </a:tc>
              </a:tr>
              <a:tr h="160000">
                <a:tc>
                  <a:txBody>
                    <a:bodyPr wrap="square"/>
                    <a:lstStyle/>
                    <a:p>
                      <a:r>
                        <a:rPr sz="900" b="1"/>
                        <a:t>Маркетинговый запуск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35,0</a:t>
                      </a:r>
                    </a:p>
                  </a:txBody>
                  <a:tcPr marL="36000" marR="36000" marT="18000" marB="18000"/>
                </a:tc>
              </a:tr>
              <a:tr h="160000">
                <a:tc>
                  <a:txBody>
                    <a:bodyPr wrap="square"/>
                    <a:lstStyle/>
                    <a:p>
                      <a:r>
                        <a:rPr sz="900" b="1"/>
                        <a:t>Подготовка производства (тестовые партии)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18,0</a:t>
                      </a:r>
                    </a:p>
                  </a:txBody>
                  <a:tcPr marL="36000" marR="36000" marT="18000" marB="18000"/>
                </a:tc>
              </a:tr>
              <a:tr h="160000">
                <a:tc>
                  <a:txBody>
                    <a:bodyPr wrap="square"/>
                    <a:lstStyle/>
                    <a:p>
                      <a:r>
                        <a:rPr sz="900" b="1"/>
                        <a:t>Разработка коллекции (дизайн, ТУ)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22,0</a:t>
                      </a:r>
                    </a:p>
                  </a:txBody>
                  <a:tcPr marL="36000" marR="36000" marT="18000" marB="18000"/>
                </a:tc>
              </a:tr>
              <a:tr h="160000">
                <a:tc>
                  <a:txBody>
                    <a:bodyPr wrap="square"/>
                    <a:lstStyle/>
                    <a:p>
                      <a:r>
                        <a:rPr sz="900" b="1"/>
                        <a:t>Прочие инвестиционные расходы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32,5</a:t>
                      </a:r>
                    </a:p>
                  </a:txBody>
                  <a:tcPr marL="36000" marR="36000" marT="18000" marB="18000"/>
                </a:tc>
              </a:tr>
              <a:tr h="160000">
                <a:tc>
                  <a:txBody>
                    <a:bodyPr wrap="square"/>
                    <a:lstStyle/>
                    <a:p>
                      <a:r>
                        <a:rPr sz="900" b="1"/>
                        <a:t>Резерв непредвиденных расходов (20,8 %)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87,5</a:t>
                      </a:r>
                    </a:p>
                  </a:txBody>
                  <a:tcPr marL="36000" marR="36000" marT="18000" marB="18000"/>
                </a:tc>
              </a:tr>
              <a:tr h="160000">
                <a:tc>
                  <a:txBody>
                    <a:bodyPr wrap="square"/>
                    <a:lstStyle/>
                    <a:p>
                      <a:r>
                        <a:rPr sz="900" b="1"/>
                        <a:t>Итого CapEx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420,0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0" y="4896000"/>
          <a:ext cx="4428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000"/>
                <a:gridCol w="1476000"/>
                <a:gridCol w="1476000"/>
              </a:tblGrid>
              <a:tr h="24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Показатель эффективности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Норма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r>
                        <a:rPr sz="900" b="1"/>
                        <a:t>NPV (r = 18 %)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318,4 млн руб.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&gt; 0</a:t>
                      </a:r>
                    </a:p>
                  </a:txBody>
                  <a:tcPr marL="36000" marR="36000" marT="18000" marB="18000"/>
                </a:tc>
              </a:tr>
              <a:tr h="240000">
                <a:tc>
                  <a:txBody>
                    <a:bodyPr wrap="square"/>
                    <a:lstStyle/>
                    <a:p>
                      <a:r>
                        <a:rPr sz="900" b="1"/>
                        <a:t>IRR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31,7 %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&gt; r</a:t>
                      </a:r>
                    </a:p>
                  </a:txBody>
                  <a:tcPr marL="36000" marR="36000" marT="18000" marB="18000"/>
                </a:tc>
              </a:tr>
              <a:tr h="240000">
                <a:tc>
                  <a:txBody>
                    <a:bodyPr wrap="square"/>
                    <a:lstStyle/>
                    <a:p>
                      <a:r>
                        <a:rPr sz="900" b="1"/>
                        <a:t>PI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1,76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&gt; 1</a:t>
                      </a:r>
                    </a:p>
                  </a:txBody>
                  <a:tcPr marL="36000" marR="36000" marT="18000" marB="18000"/>
                </a:tc>
              </a:tr>
              <a:tr h="240000">
                <a:tc>
                  <a:txBody>
                    <a:bodyPr wrap="square"/>
                    <a:lstStyle/>
                    <a:p>
                      <a:r>
                        <a:rPr sz="900" b="1"/>
                        <a:t>DPP (с тер. ст.)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3,4 года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&lt; 5 лет</a:t>
                      </a:r>
                    </a:p>
                  </a:txBody>
                  <a:tcPr marL="36000" marR="36000" marT="18000" marB="18000"/>
                </a:tc>
              </a:tr>
              <a:tr h="240000">
                <a:tc>
                  <a:txBody>
                    <a:bodyPr wrap="square"/>
                    <a:lstStyle/>
                    <a:p>
                      <a:r>
                        <a:rPr sz="900" b="1"/>
                        <a:t>E(NPV) сценарного анализа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285,1 млн руб.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&gt; 0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/>
              <a:t>Цель ВКР достигнута: разработан бизнес-план запуска собственной торговой марки обуви «Тропа» для ООО «КУПИШУЗ» и доказана коммерческая эффективность проекта</a:t>
            </a:r>
          </a:p>
          <a:p>
            <a:pPr/>
            <a:r>
              <a:rPr sz="1300"/>
              <a:t>Финансовый анализ подтвердил готовность предприятия к инвестиционному проекту: выручка 117,6 млрд руб., чистая прибыль 2,3 млрд руб., ROE 83,2 % в 2025 году</a:t>
            </a:r>
          </a:p>
          <a:p>
            <a:pPr/>
            <a:r>
              <a:rPr sz="1300"/>
              <a:t>Предложена комбинированная модель: дизайн, маркетинг и сбыт — собственными силами; производство — на договорной основе в Ростовской области (с резервным подрядчиком 70:30)</a:t>
            </a:r>
          </a:p>
          <a:p>
            <a:pPr/>
            <a:r>
              <a:rPr sz="1300"/>
              <a:t>Финансовый план: инвестиции 420 млн руб. (70 % собственные, 30 % льготный кредит ФРП); прогноз выручки 329 → 1 530 млн руб., чистая прибыль 21 → 436 млн руб.</a:t>
            </a:r>
          </a:p>
          <a:p>
            <a:pPr/>
            <a:r>
              <a:rPr sz="1300"/>
              <a:t>Гипотеза подтверждена: NPV = 318,4 млн руб., IRR = 31,7 %, PI = 1,76, DPP = 3,4 года; E(NPV) = 285,1 млн руб. Проект сохраняет коммерческую эффективность и в стресс-сценарии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652000"/>
            <a:ext cx="88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01A2E"/>
                </a:solidFill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fua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fua">
      <a:majorFont>
        <a:latin typeface="Franklin Gothic Medium Cond"/>
        <a:ea typeface=""/>
        <a:cs typeface=""/>
      </a:majorFont>
      <a:minorFont>
        <a:latin typeface="Franklin Gothic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4</Words>
  <Application>Microsoft Office PowerPoint</Application>
  <PresentationFormat>Экран (4:3)</PresentationFormat>
  <Paragraphs>4</Paragraphs>
  <Slides>4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mfua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Mihaiylova.Y</dc:creator>
  <cp:lastModifiedBy>User</cp:lastModifiedBy>
  <cp:revision>29</cp:revision>
  <dcterms:created xsi:type="dcterms:W3CDTF">2014-06-06T11:46:34Z</dcterms:created>
  <dcterms:modified xsi:type="dcterms:W3CDTF">2020-05-25T14:36:08Z</dcterms:modified>
</cp:coreProperties>
</file>